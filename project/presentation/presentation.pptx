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65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65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911" y="884046"/>
            <a:ext cx="10958245" cy="8867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400" y="2838880"/>
            <a:ext cx="11129010" cy="1995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65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www.google.com/search?q=https%3A//www.kaggle.com/code/adityacelest/student-performance-prediction&amp;authuser=1" TargetMode="External"/><Relationship Id="rId5" Type="http://schemas.openxmlformats.org/officeDocument/2006/relationships/hyperlink" Target="https://archive.ics.uci.edu/dataset/320/student%2Bperformance" TargetMode="External"/><Relationship Id="rId6" Type="http://schemas.openxmlformats.org/officeDocument/2006/relationships/hyperlink" Target="https://www.google.com/search?q=https%3A//scholar.google.com/scholar%3Fq%3Dstudent%2Bperformance%2Bprediction%2Busing%2Bmachine%2Blearning&amp;authuser=1" TargetMode="External"/><Relationship Id="rId7" Type="http://schemas.openxmlformats.org/officeDocument/2006/relationships/hyperlink" Target="https://react.dev/" TargetMode="External"/><Relationship Id="rId8" Type="http://schemas.openxmlformats.org/officeDocument/2006/relationships/hyperlink" Target="https://flask.palletsprojects.com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BIT - Budge Budge Institute of Technology - Kolkata | Kolkat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9199" y="119315"/>
            <a:ext cx="3443714" cy="1829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57957" y="1834642"/>
            <a:ext cx="647509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pc="70">
                <a:uFill>
                  <a:solidFill>
                    <a:srgbClr val="000000"/>
                  </a:solidFill>
                </a:uFill>
              </a:rPr>
              <a:t>Budge</a:t>
            </a:r>
            <a:r>
              <a:rPr dirty="0" u="sng" spc="35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70">
                <a:uFill>
                  <a:solidFill>
                    <a:srgbClr val="000000"/>
                  </a:solidFill>
                </a:uFill>
              </a:rPr>
              <a:t>Budge</a:t>
            </a:r>
            <a:r>
              <a:rPr dirty="0" u="sng" spc="34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Institute</a:t>
            </a:r>
            <a:r>
              <a:rPr dirty="0" u="sng" spc="3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of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1269" y="2762757"/>
            <a:ext cx="23564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PROJECT</a:t>
            </a:r>
            <a:r>
              <a:rPr dirty="0" sz="2800" spc="-1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TOPIC: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8722" y="2837510"/>
            <a:ext cx="69335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mbria"/>
                <a:cs typeface="Cambria"/>
              </a:rPr>
              <a:t>STUDENT</a:t>
            </a:r>
            <a:r>
              <a:rPr dirty="0" sz="1800" spc="-5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PERFORMANCE</a:t>
            </a:r>
            <a:r>
              <a:rPr dirty="0" sz="1800" spc="-9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PREDICTION</a:t>
            </a:r>
            <a:r>
              <a:rPr dirty="0" sz="1800" spc="-5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&amp;</a:t>
            </a:r>
            <a:r>
              <a:rPr dirty="0" sz="1800" spc="-20" b="1">
                <a:latin typeface="Cambria"/>
                <a:cs typeface="Cambria"/>
              </a:rPr>
              <a:t> CLASSIFICATION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SYSTEM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531" y="3216769"/>
            <a:ext cx="7833359" cy="325818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baseline="-2976" sz="4200" b="1">
                <a:latin typeface="Cambria"/>
                <a:cs typeface="Cambria"/>
              </a:rPr>
              <a:t>Presented</a:t>
            </a:r>
            <a:r>
              <a:rPr dirty="0" baseline="-2976" sz="4200" spc="472" b="1">
                <a:latin typeface="Cambria"/>
                <a:cs typeface="Cambria"/>
              </a:rPr>
              <a:t> </a:t>
            </a:r>
            <a:r>
              <a:rPr dirty="0" baseline="-2976" sz="4200" b="1">
                <a:latin typeface="Cambria"/>
                <a:cs typeface="Cambria"/>
              </a:rPr>
              <a:t>by</a:t>
            </a:r>
            <a:r>
              <a:rPr dirty="0" baseline="-2976" sz="4200" spc="472" b="1">
                <a:latin typeface="Cambria"/>
                <a:cs typeface="Cambria"/>
              </a:rPr>
              <a:t> </a:t>
            </a:r>
            <a:r>
              <a:rPr dirty="0" baseline="-2976" sz="4200" b="1">
                <a:latin typeface="Cambria"/>
                <a:cs typeface="Cambria"/>
              </a:rPr>
              <a:t>:</a:t>
            </a:r>
            <a:r>
              <a:rPr dirty="0" baseline="-2976" sz="4200" spc="292" b="1"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SHAH</a:t>
            </a:r>
            <a:r>
              <a:rPr dirty="0" sz="1800" spc="21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MD</a:t>
            </a:r>
            <a:r>
              <a:rPr dirty="0" sz="1800" spc="229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HAIDER</a:t>
            </a:r>
            <a:r>
              <a:rPr dirty="0" sz="1800" spc="22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ALI</a:t>
            </a:r>
            <a:r>
              <a:rPr dirty="0" sz="1800" spc="13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–</a:t>
            </a:r>
            <a:r>
              <a:rPr dirty="0" sz="1800" spc="11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565656"/>
                </a:solidFill>
                <a:latin typeface="Cambria"/>
                <a:cs typeface="Cambria"/>
              </a:rPr>
              <a:t>27600122049</a:t>
            </a:r>
            <a:endParaRPr sz="1800">
              <a:latin typeface="Cambria"/>
              <a:cs typeface="Cambria"/>
            </a:endParaRPr>
          </a:p>
          <a:p>
            <a:pPr marL="2499360">
              <a:lnSpc>
                <a:spcPct val="100000"/>
              </a:lnSpc>
              <a:spcBef>
                <a:spcPts val="434"/>
              </a:spcBef>
            </a:pPr>
            <a:r>
              <a:rPr dirty="0" sz="1800" spc="-20" b="1">
                <a:solidFill>
                  <a:srgbClr val="565656"/>
                </a:solidFill>
                <a:latin typeface="Cambria"/>
                <a:cs typeface="Cambria"/>
              </a:rPr>
              <a:t>AFTAB</a:t>
            </a:r>
            <a:r>
              <a:rPr dirty="0" sz="1800" spc="50" b="1">
                <a:solidFill>
                  <a:srgbClr val="565656"/>
                </a:solidFill>
                <a:latin typeface="Cambria"/>
                <a:cs typeface="Cambria"/>
              </a:rPr>
              <a:t> MANSOORI</a:t>
            </a:r>
            <a:r>
              <a:rPr dirty="0" sz="1800" spc="30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–</a:t>
            </a:r>
            <a:r>
              <a:rPr dirty="0" sz="1800" spc="3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565656"/>
                </a:solidFill>
                <a:latin typeface="Cambria"/>
                <a:cs typeface="Cambria"/>
              </a:rPr>
              <a:t>27600122082</a:t>
            </a:r>
            <a:endParaRPr sz="1800">
              <a:latin typeface="Cambria"/>
              <a:cs typeface="Cambria"/>
            </a:endParaRPr>
          </a:p>
          <a:p>
            <a:pPr marL="2525395" marR="1365250" indent="-1905">
              <a:lnSpc>
                <a:spcPct val="134400"/>
              </a:lnSpc>
              <a:spcBef>
                <a:spcPts val="5"/>
              </a:spcBef>
            </a:pPr>
            <a:r>
              <a:rPr dirty="0" sz="1800" spc="-10" b="1">
                <a:solidFill>
                  <a:srgbClr val="565656"/>
                </a:solidFill>
                <a:latin typeface="Cambria"/>
                <a:cs typeface="Cambria"/>
              </a:rPr>
              <a:t>YASIR</a:t>
            </a:r>
            <a:r>
              <a:rPr dirty="0" sz="1800" spc="7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JAMAL</a:t>
            </a:r>
            <a:r>
              <a:rPr dirty="0" sz="1800" spc="16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55" b="1">
                <a:solidFill>
                  <a:srgbClr val="565656"/>
                </a:solidFill>
                <a:latin typeface="Cambria"/>
                <a:cs typeface="Cambria"/>
              </a:rPr>
              <a:t>NOORI</a:t>
            </a:r>
            <a:r>
              <a:rPr dirty="0" sz="1800" spc="24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–</a:t>
            </a:r>
            <a:r>
              <a:rPr dirty="0" sz="1800" spc="5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565656"/>
                </a:solidFill>
                <a:latin typeface="Cambria"/>
                <a:cs typeface="Cambria"/>
              </a:rPr>
              <a:t>27600122105 SANIYA</a:t>
            </a:r>
            <a:r>
              <a:rPr dirty="0" sz="1800" spc="13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PARMIN</a:t>
            </a:r>
            <a:r>
              <a:rPr dirty="0" sz="1800" spc="6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–</a:t>
            </a:r>
            <a:r>
              <a:rPr dirty="0" sz="1800" spc="5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565656"/>
                </a:solidFill>
                <a:latin typeface="Cambria"/>
                <a:cs typeface="Cambria"/>
              </a:rPr>
              <a:t>27600122194</a:t>
            </a:r>
            <a:endParaRPr sz="1800">
              <a:latin typeface="Cambria"/>
              <a:cs typeface="Cambria"/>
            </a:endParaRPr>
          </a:p>
          <a:p>
            <a:pPr marL="2574290">
              <a:lnSpc>
                <a:spcPct val="100000"/>
              </a:lnSpc>
              <a:spcBef>
                <a:spcPts val="730"/>
              </a:spcBef>
            </a:pP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MD</a:t>
            </a:r>
            <a:r>
              <a:rPr dirty="0" sz="1800" spc="23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ADNAN</a:t>
            </a:r>
            <a:r>
              <a:rPr dirty="0" sz="1800" spc="29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KARIM</a:t>
            </a:r>
            <a:r>
              <a:rPr dirty="0" sz="1800" spc="18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–</a:t>
            </a:r>
            <a:r>
              <a:rPr dirty="0" sz="1800" spc="10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565656"/>
                </a:solidFill>
                <a:latin typeface="Cambria"/>
                <a:cs typeface="Cambria"/>
              </a:rPr>
              <a:t>27600122237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1800">
              <a:latin typeface="Cambria"/>
              <a:cs typeface="Cambria"/>
            </a:endParaRPr>
          </a:p>
          <a:p>
            <a:pPr marL="2623185">
              <a:lnSpc>
                <a:spcPct val="100000"/>
              </a:lnSpc>
            </a:pPr>
            <a:r>
              <a:rPr dirty="0" sz="1800" b="1">
                <a:solidFill>
                  <a:srgbClr val="0D0D0D"/>
                </a:solidFill>
                <a:latin typeface="Cambria"/>
                <a:cs typeface="Cambria"/>
              </a:rPr>
              <a:t>SUPERVISIOR</a:t>
            </a:r>
            <a:r>
              <a:rPr dirty="0" sz="1800" spc="370" b="1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565656"/>
                </a:solidFill>
                <a:latin typeface="Cambria"/>
                <a:cs typeface="Cambria"/>
              </a:rPr>
              <a:t>–</a:t>
            </a:r>
            <a:r>
              <a:rPr dirty="0" sz="1800" spc="185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55" b="1">
                <a:solidFill>
                  <a:srgbClr val="565656"/>
                </a:solidFill>
                <a:latin typeface="Cambria"/>
                <a:cs typeface="Cambria"/>
              </a:rPr>
              <a:t>Prof.</a:t>
            </a:r>
            <a:r>
              <a:rPr dirty="0" sz="1800" spc="34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Mr.</a:t>
            </a:r>
            <a:r>
              <a:rPr dirty="0" sz="1800" spc="385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565656"/>
                </a:solidFill>
                <a:latin typeface="Cambria"/>
                <a:cs typeface="Cambria"/>
              </a:rPr>
              <a:t>JYOTIPRIO</a:t>
            </a:r>
            <a:r>
              <a:rPr dirty="0" sz="1800" spc="250" b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565656"/>
                </a:solidFill>
                <a:latin typeface="Cambria"/>
                <a:cs typeface="Cambria"/>
              </a:rPr>
              <a:t>KHANRA</a:t>
            </a:r>
            <a:endParaRPr sz="1800">
              <a:latin typeface="Cambria"/>
              <a:cs typeface="Cambria"/>
            </a:endParaRPr>
          </a:p>
          <a:p>
            <a:pPr marL="2383790">
              <a:lnSpc>
                <a:spcPct val="100000"/>
              </a:lnSpc>
              <a:spcBef>
                <a:spcPts val="2005"/>
              </a:spcBef>
            </a:pPr>
            <a:r>
              <a:rPr dirty="0" sz="1800" b="1">
                <a:latin typeface="Cambria"/>
                <a:cs typeface="Cambria"/>
              </a:rPr>
              <a:t>Department</a:t>
            </a:r>
            <a:r>
              <a:rPr dirty="0" sz="1800" spc="29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of</a:t>
            </a:r>
            <a:r>
              <a:rPr dirty="0" sz="1800" spc="140" b="1">
                <a:latin typeface="Cambria"/>
                <a:cs typeface="Cambria"/>
              </a:rPr>
              <a:t> </a:t>
            </a:r>
            <a:r>
              <a:rPr dirty="0" sz="1800" spc="60" b="1">
                <a:latin typeface="Cambria"/>
                <a:cs typeface="Cambria"/>
              </a:rPr>
              <a:t>Computer</a:t>
            </a:r>
            <a:r>
              <a:rPr dirty="0" sz="1800" spc="430" b="1">
                <a:latin typeface="Cambria"/>
                <a:cs typeface="Cambria"/>
              </a:rPr>
              <a:t> </a:t>
            </a:r>
            <a:r>
              <a:rPr dirty="0" sz="1800" spc="70" b="1">
                <a:latin typeface="Cambria"/>
                <a:cs typeface="Cambria"/>
              </a:rPr>
              <a:t>Science</a:t>
            </a:r>
            <a:r>
              <a:rPr dirty="0" sz="1800" spc="42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&amp;</a:t>
            </a:r>
            <a:r>
              <a:rPr dirty="0" sz="1800" spc="160" b="1">
                <a:latin typeface="Cambria"/>
                <a:cs typeface="Cambria"/>
              </a:rPr>
              <a:t> </a:t>
            </a:r>
            <a:r>
              <a:rPr dirty="0" sz="1800" spc="45" b="1">
                <a:latin typeface="Cambria"/>
                <a:cs typeface="Cambria"/>
              </a:rPr>
              <a:t>Engineering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27220" y="96443"/>
            <a:ext cx="2491740" cy="973455"/>
            <a:chOff x="4427220" y="96443"/>
            <a:chExt cx="2491740" cy="97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7220" y="96443"/>
              <a:ext cx="2491358" cy="9728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6473" y="217296"/>
              <a:ext cx="2092578" cy="57315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15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The</a:t>
            </a:r>
            <a:r>
              <a:rPr dirty="0" sz="2400" spc="204"/>
              <a:t> </a:t>
            </a:r>
            <a:r>
              <a:rPr dirty="0" sz="2400" spc="50"/>
              <a:t>objective</a:t>
            </a:r>
            <a:r>
              <a:rPr dirty="0" sz="2400" spc="295"/>
              <a:t> </a:t>
            </a:r>
            <a:r>
              <a:rPr dirty="0" sz="2400"/>
              <a:t>of</a:t>
            </a:r>
            <a:r>
              <a:rPr dirty="0" sz="2400" spc="130"/>
              <a:t> </a:t>
            </a:r>
            <a:r>
              <a:rPr dirty="0" sz="2400"/>
              <a:t>this</a:t>
            </a:r>
            <a:r>
              <a:rPr dirty="0" sz="2400" spc="130"/>
              <a:t> </a:t>
            </a:r>
            <a:r>
              <a:rPr dirty="0" sz="2400"/>
              <a:t>project</a:t>
            </a:r>
            <a:r>
              <a:rPr dirty="0" sz="2400" spc="225"/>
              <a:t> </a:t>
            </a:r>
            <a:r>
              <a:rPr dirty="0" sz="2400"/>
              <a:t>is</a:t>
            </a:r>
            <a:r>
              <a:rPr dirty="0" sz="2400" spc="120"/>
              <a:t> </a:t>
            </a:r>
            <a:r>
              <a:rPr dirty="0" sz="2400"/>
              <a:t>to</a:t>
            </a:r>
            <a:r>
              <a:rPr dirty="0" sz="2400" spc="110"/>
              <a:t> </a:t>
            </a:r>
            <a:r>
              <a:rPr dirty="0" sz="2400" spc="45"/>
              <a:t>develop</a:t>
            </a:r>
            <a:r>
              <a:rPr dirty="0" sz="2400" spc="365"/>
              <a:t> </a:t>
            </a:r>
            <a:r>
              <a:rPr dirty="0" sz="2400"/>
              <a:t>a</a:t>
            </a:r>
            <a:r>
              <a:rPr dirty="0" sz="2400" spc="204"/>
              <a:t> </a:t>
            </a:r>
            <a:r>
              <a:rPr dirty="0" sz="2400"/>
              <a:t>machine</a:t>
            </a:r>
            <a:r>
              <a:rPr dirty="0" sz="2400" spc="275"/>
              <a:t> </a:t>
            </a:r>
            <a:r>
              <a:rPr dirty="0" sz="2400" spc="85"/>
              <a:t>learning-</a:t>
            </a:r>
            <a:r>
              <a:rPr dirty="0" sz="2400" spc="65"/>
              <a:t>based</a:t>
            </a:r>
            <a:r>
              <a:rPr dirty="0" sz="2400" spc="350"/>
              <a:t> </a:t>
            </a:r>
            <a:r>
              <a:rPr dirty="0" sz="2400"/>
              <a:t>system</a:t>
            </a:r>
            <a:r>
              <a:rPr dirty="0" sz="2400" spc="215"/>
              <a:t> </a:t>
            </a:r>
            <a:r>
              <a:rPr dirty="0" sz="2400"/>
              <a:t>that</a:t>
            </a:r>
            <a:r>
              <a:rPr dirty="0" sz="2400" spc="140"/>
              <a:t> </a:t>
            </a:r>
            <a:r>
              <a:rPr dirty="0" sz="2400" spc="-50"/>
              <a:t>: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0931" y="1790141"/>
            <a:ext cx="9981565" cy="3387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latin typeface="Cambria"/>
                <a:cs typeface="Cambria"/>
              </a:rPr>
              <a:t>Classifies</a:t>
            </a:r>
            <a:r>
              <a:rPr dirty="0" sz="1800" spc="28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students</a:t>
            </a:r>
            <a:r>
              <a:rPr dirty="0" sz="1800" spc="16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based</a:t>
            </a:r>
            <a:r>
              <a:rPr dirty="0" sz="1800" spc="38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on</a:t>
            </a:r>
            <a:r>
              <a:rPr dirty="0" sz="1800" spc="135">
                <a:latin typeface="Cambria"/>
                <a:cs typeface="Cambria"/>
              </a:rPr>
              <a:t> </a:t>
            </a:r>
            <a:r>
              <a:rPr dirty="0" sz="1800" spc="55">
                <a:latin typeface="Cambria"/>
                <a:cs typeface="Cambria"/>
              </a:rPr>
              <a:t>academic</a:t>
            </a:r>
            <a:r>
              <a:rPr dirty="0" sz="1800" spc="36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performance.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dirty="0" sz="1800">
                <a:latin typeface="Cambria"/>
                <a:cs typeface="Cambria"/>
              </a:rPr>
              <a:t>Predicts</a:t>
            </a:r>
            <a:r>
              <a:rPr dirty="0" sz="1800" spc="204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future</a:t>
            </a:r>
            <a:r>
              <a:rPr dirty="0" sz="1800" spc="26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student</a:t>
            </a:r>
            <a:r>
              <a:rPr dirty="0" sz="1800" spc="2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outcomes</a:t>
            </a:r>
            <a:r>
              <a:rPr dirty="0" sz="1800" spc="3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using</a:t>
            </a:r>
            <a:r>
              <a:rPr dirty="0" sz="1800" spc="33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historical</a:t>
            </a:r>
            <a:r>
              <a:rPr dirty="0" sz="1800" spc="15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data.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ambria"/>
                <a:cs typeface="Cambria"/>
              </a:rPr>
              <a:t>Helps</a:t>
            </a:r>
            <a:r>
              <a:rPr dirty="0" sz="1800" spc="36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teachers</a:t>
            </a:r>
            <a:r>
              <a:rPr dirty="0" sz="1800" spc="4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identify</a:t>
            </a:r>
            <a:r>
              <a:rPr dirty="0" sz="1800" spc="30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weak</a:t>
            </a:r>
            <a:r>
              <a:rPr dirty="0" sz="1800" spc="38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and</a:t>
            </a:r>
            <a:r>
              <a:rPr dirty="0" sz="1800" spc="355">
                <a:latin typeface="Cambria"/>
                <a:cs typeface="Cambria"/>
              </a:rPr>
              <a:t> </a:t>
            </a:r>
            <a:r>
              <a:rPr dirty="0" sz="1800" spc="50">
                <a:latin typeface="Cambria"/>
                <a:cs typeface="Cambria"/>
              </a:rPr>
              <a:t>high-</a:t>
            </a:r>
            <a:r>
              <a:rPr dirty="0" sz="1800">
                <a:latin typeface="Cambria"/>
                <a:cs typeface="Cambria"/>
              </a:rPr>
              <a:t>performing</a:t>
            </a:r>
            <a:r>
              <a:rPr dirty="0" sz="1800" spc="49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students.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800">
              <a:latin typeface="Cambria"/>
              <a:cs typeface="Cambria"/>
            </a:endParaRPr>
          </a:p>
          <a:p>
            <a:pPr marL="27305">
              <a:lnSpc>
                <a:spcPct val="100000"/>
              </a:lnSpc>
            </a:pPr>
            <a:r>
              <a:rPr dirty="0" sz="2000">
                <a:latin typeface="Cambria"/>
                <a:cs typeface="Cambria"/>
              </a:rPr>
              <a:t>Provides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early</a:t>
            </a:r>
            <a:r>
              <a:rPr dirty="0" sz="2000" spc="3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warning</a:t>
            </a:r>
            <a:r>
              <a:rPr dirty="0" sz="2000" spc="3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indicators</a:t>
            </a:r>
            <a:r>
              <a:rPr dirty="0" sz="2000" spc="2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reduce</a:t>
            </a:r>
            <a:r>
              <a:rPr dirty="0" sz="2000" spc="3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student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failure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and</a:t>
            </a:r>
            <a:r>
              <a:rPr dirty="0" sz="2000" spc="2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dropout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risk.</a:t>
            </a:r>
            <a:endParaRPr sz="2000">
              <a:latin typeface="Cambria"/>
              <a:cs typeface="Cambria"/>
            </a:endParaRPr>
          </a:p>
          <a:p>
            <a:pPr marL="27305">
              <a:lnSpc>
                <a:spcPct val="100000"/>
              </a:lnSpc>
              <a:spcBef>
                <a:spcPts val="1800"/>
              </a:spcBef>
            </a:pPr>
            <a:r>
              <a:rPr dirty="0" sz="2000" spc="45">
                <a:latin typeface="Cambria"/>
                <a:cs typeface="Cambria"/>
              </a:rPr>
              <a:t>Enhances</a:t>
            </a:r>
            <a:r>
              <a:rPr dirty="0" sz="2000" spc="4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personalized</a:t>
            </a:r>
            <a:r>
              <a:rPr dirty="0" sz="2000" spc="38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learning</a:t>
            </a:r>
            <a:r>
              <a:rPr dirty="0" sz="2000" spc="43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by</a:t>
            </a:r>
            <a:r>
              <a:rPr dirty="0" sz="2000" spc="3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analyzing</a:t>
            </a:r>
            <a:r>
              <a:rPr dirty="0" sz="2000" spc="32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individual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student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performance</a:t>
            </a:r>
            <a:r>
              <a:rPr dirty="0" sz="2000" spc="30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patterns.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Cambria"/>
              <a:cs typeface="Cambria"/>
            </a:endParaRPr>
          </a:p>
          <a:p>
            <a:pPr marL="27305">
              <a:lnSpc>
                <a:spcPct val="100000"/>
              </a:lnSpc>
            </a:pPr>
            <a:r>
              <a:rPr dirty="0" sz="2000">
                <a:latin typeface="Cambria"/>
                <a:cs typeface="Cambria"/>
              </a:rPr>
              <a:t>Supports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data-driven</a:t>
            </a:r>
            <a:r>
              <a:rPr dirty="0" sz="2000" spc="2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academic</a:t>
            </a:r>
            <a:r>
              <a:rPr dirty="0" sz="2000" spc="425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decision</a:t>
            </a:r>
            <a:r>
              <a:rPr dirty="0" sz="2000" spc="42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making.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09465" y="-12"/>
            <a:ext cx="2499995" cy="878205"/>
            <a:chOff x="4609465" y="-12"/>
            <a:chExt cx="2499995" cy="878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9465" y="-12"/>
              <a:ext cx="2499867" cy="8779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9480" y="122808"/>
              <a:ext cx="2101214" cy="47269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87057" y="1239011"/>
            <a:ext cx="247015" cy="257175"/>
            <a:chOff x="387057" y="1239011"/>
            <a:chExt cx="247015" cy="257175"/>
          </a:xfrm>
        </p:grpSpPr>
        <p:sp>
          <p:nvSpPr>
            <p:cNvPr id="7" name="object 7"/>
            <p:cNvSpPr/>
            <p:nvPr/>
          </p:nvSpPr>
          <p:spPr>
            <a:xfrm>
              <a:off x="393407" y="1245361"/>
              <a:ext cx="234315" cy="244475"/>
            </a:xfrm>
            <a:custGeom>
              <a:avLst/>
              <a:gdLst/>
              <a:ahLst/>
              <a:cxnLst/>
              <a:rect l="l" t="t" r="r" b="b"/>
              <a:pathLst>
                <a:path w="234315" h="244475">
                  <a:moveTo>
                    <a:pt x="116954" y="0"/>
                  </a:moveTo>
                  <a:lnTo>
                    <a:pt x="0" y="122300"/>
                  </a:lnTo>
                  <a:lnTo>
                    <a:pt x="116954" y="244475"/>
                  </a:lnTo>
                  <a:lnTo>
                    <a:pt x="233908" y="122300"/>
                  </a:lnTo>
                  <a:lnTo>
                    <a:pt x="11695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3407" y="1245361"/>
              <a:ext cx="234315" cy="244475"/>
            </a:xfrm>
            <a:custGeom>
              <a:avLst/>
              <a:gdLst/>
              <a:ahLst/>
              <a:cxnLst/>
              <a:rect l="l" t="t" r="r" b="b"/>
              <a:pathLst>
                <a:path w="234315" h="244475">
                  <a:moveTo>
                    <a:pt x="0" y="122300"/>
                  </a:moveTo>
                  <a:lnTo>
                    <a:pt x="116954" y="0"/>
                  </a:lnTo>
                  <a:lnTo>
                    <a:pt x="233908" y="122300"/>
                  </a:lnTo>
                  <a:lnTo>
                    <a:pt x="116954" y="244475"/>
                  </a:lnTo>
                  <a:lnTo>
                    <a:pt x="0" y="1223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87057" y="2120138"/>
            <a:ext cx="280035" cy="257810"/>
            <a:chOff x="387057" y="2120138"/>
            <a:chExt cx="280035" cy="257810"/>
          </a:xfrm>
        </p:grpSpPr>
        <p:sp>
          <p:nvSpPr>
            <p:cNvPr id="10" name="object 10"/>
            <p:cNvSpPr/>
            <p:nvPr/>
          </p:nvSpPr>
          <p:spPr>
            <a:xfrm>
              <a:off x="393407" y="2126488"/>
              <a:ext cx="267335" cy="245110"/>
            </a:xfrm>
            <a:custGeom>
              <a:avLst/>
              <a:gdLst/>
              <a:ahLst/>
              <a:cxnLst/>
              <a:rect l="l" t="t" r="r" b="b"/>
              <a:pathLst>
                <a:path w="267334" h="245110">
                  <a:moveTo>
                    <a:pt x="133553" y="0"/>
                  </a:moveTo>
                  <a:lnTo>
                    <a:pt x="0" y="122300"/>
                  </a:lnTo>
                  <a:lnTo>
                    <a:pt x="133553" y="244601"/>
                  </a:lnTo>
                  <a:lnTo>
                    <a:pt x="267093" y="122300"/>
                  </a:lnTo>
                  <a:lnTo>
                    <a:pt x="13355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3407" y="2126488"/>
              <a:ext cx="267335" cy="245110"/>
            </a:xfrm>
            <a:custGeom>
              <a:avLst/>
              <a:gdLst/>
              <a:ahLst/>
              <a:cxnLst/>
              <a:rect l="l" t="t" r="r" b="b"/>
              <a:pathLst>
                <a:path w="267334" h="245110">
                  <a:moveTo>
                    <a:pt x="0" y="122300"/>
                  </a:moveTo>
                  <a:lnTo>
                    <a:pt x="133553" y="0"/>
                  </a:lnTo>
                  <a:lnTo>
                    <a:pt x="267093" y="122300"/>
                  </a:lnTo>
                  <a:lnTo>
                    <a:pt x="133553" y="244601"/>
                  </a:lnTo>
                  <a:lnTo>
                    <a:pt x="0" y="1223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409613" y="3001264"/>
            <a:ext cx="280035" cy="257810"/>
            <a:chOff x="409613" y="3001264"/>
            <a:chExt cx="280035" cy="257810"/>
          </a:xfrm>
        </p:grpSpPr>
        <p:sp>
          <p:nvSpPr>
            <p:cNvPr id="13" name="object 13"/>
            <p:cNvSpPr/>
            <p:nvPr/>
          </p:nvSpPr>
          <p:spPr>
            <a:xfrm>
              <a:off x="415963" y="3007614"/>
              <a:ext cx="267335" cy="245110"/>
            </a:xfrm>
            <a:custGeom>
              <a:avLst/>
              <a:gdLst/>
              <a:ahLst/>
              <a:cxnLst/>
              <a:rect l="l" t="t" r="r" b="b"/>
              <a:pathLst>
                <a:path w="267334" h="245110">
                  <a:moveTo>
                    <a:pt x="133553" y="0"/>
                  </a:moveTo>
                  <a:lnTo>
                    <a:pt x="0" y="122300"/>
                  </a:lnTo>
                  <a:lnTo>
                    <a:pt x="133553" y="244601"/>
                  </a:lnTo>
                  <a:lnTo>
                    <a:pt x="267093" y="122300"/>
                  </a:lnTo>
                  <a:lnTo>
                    <a:pt x="13355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5963" y="3007614"/>
              <a:ext cx="267335" cy="245110"/>
            </a:xfrm>
            <a:custGeom>
              <a:avLst/>
              <a:gdLst/>
              <a:ahLst/>
              <a:cxnLst/>
              <a:rect l="l" t="t" r="r" b="b"/>
              <a:pathLst>
                <a:path w="267334" h="245110">
                  <a:moveTo>
                    <a:pt x="0" y="122300"/>
                  </a:moveTo>
                  <a:lnTo>
                    <a:pt x="133553" y="0"/>
                  </a:lnTo>
                  <a:lnTo>
                    <a:pt x="267093" y="122300"/>
                  </a:lnTo>
                  <a:lnTo>
                    <a:pt x="133553" y="244601"/>
                  </a:lnTo>
                  <a:lnTo>
                    <a:pt x="0" y="1223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423265" y="3647313"/>
            <a:ext cx="280035" cy="257175"/>
            <a:chOff x="423265" y="3647313"/>
            <a:chExt cx="280035" cy="257175"/>
          </a:xfrm>
        </p:grpSpPr>
        <p:sp>
          <p:nvSpPr>
            <p:cNvPr id="16" name="object 16"/>
            <p:cNvSpPr/>
            <p:nvPr/>
          </p:nvSpPr>
          <p:spPr>
            <a:xfrm>
              <a:off x="429615" y="3653663"/>
              <a:ext cx="267335" cy="244475"/>
            </a:xfrm>
            <a:custGeom>
              <a:avLst/>
              <a:gdLst/>
              <a:ahLst/>
              <a:cxnLst/>
              <a:rect l="l" t="t" r="r" b="b"/>
              <a:pathLst>
                <a:path w="267334" h="244475">
                  <a:moveTo>
                    <a:pt x="133540" y="0"/>
                  </a:moveTo>
                  <a:lnTo>
                    <a:pt x="0" y="122174"/>
                  </a:lnTo>
                  <a:lnTo>
                    <a:pt x="133540" y="244475"/>
                  </a:lnTo>
                  <a:lnTo>
                    <a:pt x="267093" y="122174"/>
                  </a:lnTo>
                  <a:lnTo>
                    <a:pt x="13354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29615" y="3653663"/>
              <a:ext cx="267335" cy="244475"/>
            </a:xfrm>
            <a:custGeom>
              <a:avLst/>
              <a:gdLst/>
              <a:ahLst/>
              <a:cxnLst/>
              <a:rect l="l" t="t" r="r" b="b"/>
              <a:pathLst>
                <a:path w="267334" h="244475">
                  <a:moveTo>
                    <a:pt x="0" y="122174"/>
                  </a:moveTo>
                  <a:lnTo>
                    <a:pt x="133540" y="0"/>
                  </a:lnTo>
                  <a:lnTo>
                    <a:pt x="267093" y="122174"/>
                  </a:lnTo>
                  <a:lnTo>
                    <a:pt x="133540" y="244475"/>
                  </a:lnTo>
                  <a:lnTo>
                    <a:pt x="0" y="12217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434543" y="4557267"/>
            <a:ext cx="280035" cy="257175"/>
            <a:chOff x="434543" y="4557267"/>
            <a:chExt cx="280035" cy="257175"/>
          </a:xfrm>
        </p:grpSpPr>
        <p:sp>
          <p:nvSpPr>
            <p:cNvPr id="19" name="object 19"/>
            <p:cNvSpPr/>
            <p:nvPr/>
          </p:nvSpPr>
          <p:spPr>
            <a:xfrm>
              <a:off x="440893" y="4563617"/>
              <a:ext cx="267335" cy="244475"/>
            </a:xfrm>
            <a:custGeom>
              <a:avLst/>
              <a:gdLst/>
              <a:ahLst/>
              <a:cxnLst/>
              <a:rect l="l" t="t" r="r" b="b"/>
              <a:pathLst>
                <a:path w="267334" h="244475">
                  <a:moveTo>
                    <a:pt x="133540" y="0"/>
                  </a:moveTo>
                  <a:lnTo>
                    <a:pt x="0" y="122173"/>
                  </a:lnTo>
                  <a:lnTo>
                    <a:pt x="133540" y="244474"/>
                  </a:lnTo>
                  <a:lnTo>
                    <a:pt x="267093" y="122173"/>
                  </a:lnTo>
                  <a:lnTo>
                    <a:pt x="13354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40893" y="4563617"/>
              <a:ext cx="267335" cy="244475"/>
            </a:xfrm>
            <a:custGeom>
              <a:avLst/>
              <a:gdLst/>
              <a:ahLst/>
              <a:cxnLst/>
              <a:rect l="l" t="t" r="r" b="b"/>
              <a:pathLst>
                <a:path w="267334" h="244475">
                  <a:moveTo>
                    <a:pt x="0" y="122173"/>
                  </a:moveTo>
                  <a:lnTo>
                    <a:pt x="133540" y="0"/>
                  </a:lnTo>
                  <a:lnTo>
                    <a:pt x="267093" y="122173"/>
                  </a:lnTo>
                  <a:lnTo>
                    <a:pt x="133540" y="244474"/>
                  </a:lnTo>
                  <a:lnTo>
                    <a:pt x="0" y="12217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739241" y="1152525"/>
            <a:ext cx="10937240" cy="3670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02882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project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focuses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predicting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student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using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spc="45" b="1">
                <a:latin typeface="Calibri"/>
                <a:cs typeface="Calibri"/>
              </a:rPr>
              <a:t>learning </a:t>
            </a:r>
            <a:r>
              <a:rPr dirty="0" sz="2000" spc="-10" b="1">
                <a:latin typeface="Calibri"/>
                <a:cs typeface="Calibri"/>
              </a:rPr>
              <a:t>algorithms.</a:t>
            </a:r>
            <a:endParaRPr sz="200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2195"/>
              </a:spcBef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analyzes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student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spc="65" b="1">
                <a:latin typeface="Calibri"/>
                <a:cs typeface="Calibri"/>
              </a:rPr>
              <a:t>academic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records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attendance,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marks,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participation.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200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classifies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students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2000" spc="45" b="1">
                <a:latin typeface="Calibri"/>
                <a:cs typeface="Calibri"/>
              </a:rPr>
              <a:t>categories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(Excellent,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Average,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Risk).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00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Calibri"/>
                <a:cs typeface="Calibri"/>
              </a:rPr>
              <a:t>Prediction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results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help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educators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early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intervention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personalized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spc="55" b="1">
                <a:latin typeface="Calibri"/>
                <a:cs typeface="Calibri"/>
              </a:rPr>
              <a:t>learning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strategies.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00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improves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spc="65" b="1">
                <a:latin typeface="Calibri"/>
                <a:cs typeface="Calibri"/>
              </a:rPr>
              <a:t>academic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institutional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analysis.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92221" y="79400"/>
            <a:ext cx="4714240" cy="824865"/>
            <a:chOff x="3292221" y="79400"/>
            <a:chExt cx="4714240" cy="8248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2221" y="79400"/>
              <a:ext cx="4713859" cy="8245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0839" y="151764"/>
              <a:ext cx="4316603" cy="46507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2456" y="787984"/>
            <a:ext cx="11886565" cy="5611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Arial"/>
                <a:cs typeface="Arial"/>
              </a:rPr>
              <a:t>Traditional</a:t>
            </a:r>
            <a:r>
              <a:rPr dirty="0" sz="1600" spc="-10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Approaches </a:t>
            </a:r>
            <a:r>
              <a:rPr dirty="0" sz="1600" spc="-50" b="1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71755" marR="70866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Arial"/>
                <a:cs typeface="Arial"/>
              </a:rPr>
              <a:t>Earlier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systems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primarily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relied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manual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analysis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basic</a:t>
            </a:r>
            <a:r>
              <a:rPr dirty="0" sz="1600" spc="-10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statistical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methods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(like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Linear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Regression)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which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struggle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with </a:t>
            </a:r>
            <a:r>
              <a:rPr dirty="0" sz="1600" spc="-10">
                <a:latin typeface="Arial"/>
                <a:cs typeface="Arial"/>
              </a:rPr>
              <a:t>complex,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non-</a:t>
            </a:r>
            <a:r>
              <a:rPr dirty="0" sz="1600">
                <a:latin typeface="Arial"/>
                <a:cs typeface="Arial"/>
              </a:rPr>
              <a:t>linear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student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data.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Recent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ML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Implementations:</a:t>
            </a:r>
            <a:endParaRPr sz="16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Recent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studies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have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used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algorithms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like</a:t>
            </a:r>
            <a:r>
              <a:rPr dirty="0" sz="1600" spc="-1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SVM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Naive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Bayes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prediction,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but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they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often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lack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modern,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real-</a:t>
            </a:r>
            <a:r>
              <a:rPr dirty="0" sz="1600">
                <a:latin typeface="Arial"/>
                <a:cs typeface="Arial"/>
              </a:rPr>
              <a:t>time</a:t>
            </a:r>
            <a:r>
              <a:rPr dirty="0" sz="1600" spc="-10">
                <a:latin typeface="Arial"/>
                <a:cs typeface="Arial"/>
              </a:rPr>
              <a:t> user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interface</a:t>
            </a:r>
            <a:endParaRPr sz="16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educators.</a:t>
            </a:r>
            <a:endParaRPr sz="16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Arial"/>
                <a:cs typeface="Arial"/>
              </a:rPr>
              <a:t>Most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existing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systems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only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focus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binary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classification</a:t>
            </a:r>
            <a:r>
              <a:rPr dirty="0" sz="1600" spc="-10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(Pass/Fail)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rather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holistic</a:t>
            </a:r>
            <a:r>
              <a:rPr dirty="0" sz="1600" spc="-10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grading.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Limitations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Problem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Statement</a:t>
            </a:r>
            <a:r>
              <a:rPr dirty="0" sz="1600" spc="-60" b="1">
                <a:latin typeface="Arial"/>
                <a:cs typeface="Arial"/>
              </a:rPr>
              <a:t> :</a:t>
            </a:r>
            <a:endParaRPr sz="1600">
              <a:latin typeface="Arial"/>
              <a:cs typeface="Arial"/>
            </a:endParaRPr>
          </a:p>
          <a:p>
            <a:pPr marL="71755" marR="328295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Missing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40">
                <a:latin typeface="Arial"/>
                <a:cs typeface="Arial"/>
              </a:rPr>
              <a:t>user-</a:t>
            </a:r>
            <a:r>
              <a:rPr dirty="0" sz="1600">
                <a:latin typeface="Arial"/>
                <a:cs typeface="Arial"/>
              </a:rPr>
              <a:t>friendly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Lack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comparative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model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analysis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(e.g.,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checking</a:t>
            </a:r>
            <a:r>
              <a:rPr dirty="0" sz="1600" spc="-1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which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model </a:t>
            </a:r>
            <a:r>
              <a:rPr dirty="0" sz="1600">
                <a:latin typeface="Arial"/>
                <a:cs typeface="Arial"/>
              </a:rPr>
              <a:t>works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best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dynamically). </a:t>
            </a:r>
            <a:r>
              <a:rPr dirty="0" sz="1600">
                <a:latin typeface="Arial"/>
                <a:cs typeface="Arial"/>
              </a:rPr>
              <a:t>No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actionable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insights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categorization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early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intervention.</a:t>
            </a:r>
            <a:endParaRPr sz="16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1095"/>
              </a:spcBef>
            </a:pPr>
            <a:r>
              <a:rPr dirty="0" sz="1800" b="1">
                <a:latin typeface="Arial"/>
                <a:cs typeface="Arial"/>
              </a:rPr>
              <a:t>Datasets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&amp;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Analysis:</a:t>
            </a:r>
            <a:endParaRPr sz="1800">
              <a:latin typeface="Arial"/>
              <a:cs typeface="Arial"/>
            </a:endParaRPr>
          </a:p>
          <a:p>
            <a:pPr marL="100330" indent="-88900">
              <a:lnSpc>
                <a:spcPct val="100000"/>
              </a:lnSpc>
              <a:buClr>
                <a:srgbClr val="000000"/>
              </a:buClr>
              <a:buSzPct val="94444"/>
              <a:buChar char="•"/>
              <a:tabLst>
                <a:tab pos="100330" algn="l"/>
              </a:tabLst>
            </a:pP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Kaggle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:</a:t>
            </a:r>
            <a:r>
              <a:rPr dirty="0" u="sng" sz="1800" spc="-55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Student</a:t>
            </a:r>
            <a:r>
              <a:rPr dirty="0" u="sng" sz="1800" spc="-4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Performance</a:t>
            </a:r>
            <a:r>
              <a:rPr dirty="0" u="sng" sz="1800" spc="-135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100330" indent="-88900">
              <a:lnSpc>
                <a:spcPct val="100000"/>
              </a:lnSpc>
              <a:buClr>
                <a:srgbClr val="000000"/>
              </a:buClr>
              <a:buSzPct val="94444"/>
              <a:buChar char="•"/>
              <a:tabLst>
                <a:tab pos="100330" algn="l"/>
              </a:tabLst>
            </a:pP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UC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I</a:t>
            </a:r>
            <a:r>
              <a:rPr dirty="0" u="sng" sz="1800" spc="-75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Machine</a:t>
            </a:r>
            <a:r>
              <a:rPr dirty="0" u="sng" sz="1800" spc="-7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Learning</a:t>
            </a:r>
            <a:r>
              <a:rPr dirty="0" u="sng" sz="1800" spc="-6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Repository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: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Studen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t</a:t>
            </a:r>
            <a:r>
              <a:rPr dirty="0" u="sng" sz="18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Data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Research &amp;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Methodology:</a:t>
            </a:r>
            <a:endParaRPr sz="1800">
              <a:latin typeface="Arial"/>
              <a:cs typeface="Arial"/>
            </a:endParaRPr>
          </a:p>
          <a:p>
            <a:pPr marL="100330" indent="-88900">
              <a:lnSpc>
                <a:spcPct val="100000"/>
              </a:lnSpc>
              <a:buClr>
                <a:srgbClr val="000000"/>
              </a:buClr>
              <a:buSzPct val="94444"/>
              <a:buChar char="•"/>
              <a:tabLst>
                <a:tab pos="100330" algn="l"/>
              </a:tabLst>
            </a:pP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Google</a:t>
            </a:r>
            <a:r>
              <a:rPr dirty="0" u="sng" sz="1800" spc="-4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Scholar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: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ML</a:t>
            </a:r>
            <a:r>
              <a:rPr dirty="0" u="sng" sz="1800" spc="-125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in</a:t>
            </a:r>
            <a:r>
              <a:rPr dirty="0" u="sng" sz="1800" spc="-5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Education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</a:pPr>
            <a:r>
              <a:rPr dirty="0" sz="1800" spc="-25" b="1">
                <a:latin typeface="Arial"/>
                <a:cs typeface="Arial"/>
              </a:rPr>
              <a:t>Tools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&amp;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Frameworks:</a:t>
            </a:r>
            <a:endParaRPr sz="1800">
              <a:latin typeface="Arial"/>
              <a:cs typeface="Arial"/>
            </a:endParaRPr>
          </a:p>
          <a:p>
            <a:pPr marL="100330" indent="-88900">
              <a:lnSpc>
                <a:spcPct val="100000"/>
              </a:lnSpc>
              <a:buClr>
                <a:srgbClr val="000000"/>
              </a:buClr>
              <a:buSzPct val="94444"/>
              <a:buChar char="•"/>
              <a:tabLst>
                <a:tab pos="100330" algn="l"/>
              </a:tabLst>
            </a:pP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7"/>
              </a:rPr>
              <a:t>Reac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t</a:t>
            </a:r>
            <a:r>
              <a:rPr dirty="0" u="sng" sz="1800" spc="-5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7"/>
              </a:rPr>
              <a:t>Documentation</a:t>
            </a:r>
            <a:r>
              <a:rPr dirty="0" sz="180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|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8"/>
              </a:rPr>
              <a:t>Flask</a:t>
            </a:r>
            <a:r>
              <a:rPr dirty="0" u="sng" sz="1800" spc="-5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8"/>
              </a:rPr>
              <a:t>Documentation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82" y="770001"/>
            <a:ext cx="130175" cy="267970"/>
            <a:chOff x="4282" y="770001"/>
            <a:chExt cx="130175" cy="267970"/>
          </a:xfrm>
        </p:grpSpPr>
        <p:sp>
          <p:nvSpPr>
            <p:cNvPr id="7" name="object 7"/>
            <p:cNvSpPr/>
            <p:nvPr/>
          </p:nvSpPr>
          <p:spPr>
            <a:xfrm>
              <a:off x="10632" y="776351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69">
                  <a:moveTo>
                    <a:pt x="58479" y="0"/>
                  </a:moveTo>
                  <a:lnTo>
                    <a:pt x="35716" y="10031"/>
                  </a:lnTo>
                  <a:lnTo>
                    <a:pt x="17128" y="37385"/>
                  </a:lnTo>
                  <a:lnTo>
                    <a:pt x="4595" y="77956"/>
                  </a:lnTo>
                  <a:lnTo>
                    <a:pt x="0" y="127635"/>
                  </a:lnTo>
                  <a:lnTo>
                    <a:pt x="4595" y="177240"/>
                  </a:lnTo>
                  <a:lnTo>
                    <a:pt x="17128" y="217773"/>
                  </a:lnTo>
                  <a:lnTo>
                    <a:pt x="35716" y="245113"/>
                  </a:lnTo>
                  <a:lnTo>
                    <a:pt x="58479" y="255143"/>
                  </a:lnTo>
                  <a:lnTo>
                    <a:pt x="81242" y="245113"/>
                  </a:lnTo>
                  <a:lnTo>
                    <a:pt x="99833" y="217773"/>
                  </a:lnTo>
                  <a:lnTo>
                    <a:pt x="112367" y="177240"/>
                  </a:lnTo>
                  <a:lnTo>
                    <a:pt x="116963" y="127635"/>
                  </a:lnTo>
                  <a:lnTo>
                    <a:pt x="112367" y="77956"/>
                  </a:lnTo>
                  <a:lnTo>
                    <a:pt x="99833" y="37385"/>
                  </a:lnTo>
                  <a:lnTo>
                    <a:pt x="81242" y="10031"/>
                  </a:lnTo>
                  <a:lnTo>
                    <a:pt x="584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32" y="776351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69">
                  <a:moveTo>
                    <a:pt x="0" y="127635"/>
                  </a:moveTo>
                  <a:lnTo>
                    <a:pt x="4595" y="77956"/>
                  </a:lnTo>
                  <a:lnTo>
                    <a:pt x="17128" y="37385"/>
                  </a:lnTo>
                  <a:lnTo>
                    <a:pt x="35716" y="10031"/>
                  </a:lnTo>
                  <a:lnTo>
                    <a:pt x="58479" y="0"/>
                  </a:lnTo>
                  <a:lnTo>
                    <a:pt x="81242" y="10031"/>
                  </a:lnTo>
                  <a:lnTo>
                    <a:pt x="99833" y="37385"/>
                  </a:lnTo>
                  <a:lnTo>
                    <a:pt x="112367" y="77956"/>
                  </a:lnTo>
                  <a:lnTo>
                    <a:pt x="116963" y="127635"/>
                  </a:lnTo>
                  <a:lnTo>
                    <a:pt x="112367" y="177240"/>
                  </a:lnTo>
                  <a:lnTo>
                    <a:pt x="99833" y="217773"/>
                  </a:lnTo>
                  <a:lnTo>
                    <a:pt x="81242" y="245113"/>
                  </a:lnTo>
                  <a:lnTo>
                    <a:pt x="58479" y="255143"/>
                  </a:lnTo>
                  <a:lnTo>
                    <a:pt x="35716" y="245113"/>
                  </a:lnTo>
                  <a:lnTo>
                    <a:pt x="17128" y="217773"/>
                  </a:lnTo>
                  <a:lnTo>
                    <a:pt x="4595" y="177240"/>
                  </a:lnTo>
                  <a:lnTo>
                    <a:pt x="0" y="12763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282" y="1762379"/>
            <a:ext cx="130175" cy="267970"/>
            <a:chOff x="4282" y="1762379"/>
            <a:chExt cx="130175" cy="267970"/>
          </a:xfrm>
        </p:grpSpPr>
        <p:sp>
          <p:nvSpPr>
            <p:cNvPr id="10" name="object 10"/>
            <p:cNvSpPr/>
            <p:nvPr/>
          </p:nvSpPr>
          <p:spPr>
            <a:xfrm>
              <a:off x="10632" y="1768729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69">
                  <a:moveTo>
                    <a:pt x="58479" y="0"/>
                  </a:moveTo>
                  <a:lnTo>
                    <a:pt x="35716" y="10031"/>
                  </a:lnTo>
                  <a:lnTo>
                    <a:pt x="17128" y="37385"/>
                  </a:lnTo>
                  <a:lnTo>
                    <a:pt x="4595" y="77956"/>
                  </a:lnTo>
                  <a:lnTo>
                    <a:pt x="0" y="127635"/>
                  </a:lnTo>
                  <a:lnTo>
                    <a:pt x="4595" y="177240"/>
                  </a:lnTo>
                  <a:lnTo>
                    <a:pt x="17128" y="217773"/>
                  </a:lnTo>
                  <a:lnTo>
                    <a:pt x="35716" y="245113"/>
                  </a:lnTo>
                  <a:lnTo>
                    <a:pt x="58479" y="255143"/>
                  </a:lnTo>
                  <a:lnTo>
                    <a:pt x="81242" y="245113"/>
                  </a:lnTo>
                  <a:lnTo>
                    <a:pt x="99833" y="217773"/>
                  </a:lnTo>
                  <a:lnTo>
                    <a:pt x="112367" y="177240"/>
                  </a:lnTo>
                  <a:lnTo>
                    <a:pt x="116963" y="127635"/>
                  </a:lnTo>
                  <a:lnTo>
                    <a:pt x="112367" y="77956"/>
                  </a:lnTo>
                  <a:lnTo>
                    <a:pt x="99833" y="37385"/>
                  </a:lnTo>
                  <a:lnTo>
                    <a:pt x="81242" y="10031"/>
                  </a:lnTo>
                  <a:lnTo>
                    <a:pt x="584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632" y="1768729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69">
                  <a:moveTo>
                    <a:pt x="0" y="127635"/>
                  </a:moveTo>
                  <a:lnTo>
                    <a:pt x="4595" y="77956"/>
                  </a:lnTo>
                  <a:lnTo>
                    <a:pt x="17128" y="37385"/>
                  </a:lnTo>
                  <a:lnTo>
                    <a:pt x="35716" y="10031"/>
                  </a:lnTo>
                  <a:lnTo>
                    <a:pt x="58479" y="0"/>
                  </a:lnTo>
                  <a:lnTo>
                    <a:pt x="81242" y="10031"/>
                  </a:lnTo>
                  <a:lnTo>
                    <a:pt x="99833" y="37385"/>
                  </a:lnTo>
                  <a:lnTo>
                    <a:pt x="112367" y="77956"/>
                  </a:lnTo>
                  <a:lnTo>
                    <a:pt x="116963" y="127635"/>
                  </a:lnTo>
                  <a:lnTo>
                    <a:pt x="112367" y="177240"/>
                  </a:lnTo>
                  <a:lnTo>
                    <a:pt x="99833" y="217773"/>
                  </a:lnTo>
                  <a:lnTo>
                    <a:pt x="81242" y="245113"/>
                  </a:lnTo>
                  <a:lnTo>
                    <a:pt x="58479" y="255143"/>
                  </a:lnTo>
                  <a:lnTo>
                    <a:pt x="35716" y="245113"/>
                  </a:lnTo>
                  <a:lnTo>
                    <a:pt x="17128" y="217773"/>
                  </a:lnTo>
                  <a:lnTo>
                    <a:pt x="4595" y="177240"/>
                  </a:lnTo>
                  <a:lnTo>
                    <a:pt x="0" y="12763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4282" y="2990976"/>
            <a:ext cx="130175" cy="267970"/>
            <a:chOff x="4282" y="2990976"/>
            <a:chExt cx="130175" cy="267970"/>
          </a:xfrm>
        </p:grpSpPr>
        <p:sp>
          <p:nvSpPr>
            <p:cNvPr id="13" name="object 13"/>
            <p:cNvSpPr/>
            <p:nvPr/>
          </p:nvSpPr>
          <p:spPr>
            <a:xfrm>
              <a:off x="10632" y="2997326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70">
                  <a:moveTo>
                    <a:pt x="58479" y="0"/>
                  </a:moveTo>
                  <a:lnTo>
                    <a:pt x="35716" y="10031"/>
                  </a:lnTo>
                  <a:lnTo>
                    <a:pt x="17128" y="37385"/>
                  </a:lnTo>
                  <a:lnTo>
                    <a:pt x="4595" y="77956"/>
                  </a:lnTo>
                  <a:lnTo>
                    <a:pt x="0" y="127635"/>
                  </a:lnTo>
                  <a:lnTo>
                    <a:pt x="4595" y="177313"/>
                  </a:lnTo>
                  <a:lnTo>
                    <a:pt x="17128" y="217884"/>
                  </a:lnTo>
                  <a:lnTo>
                    <a:pt x="35716" y="245238"/>
                  </a:lnTo>
                  <a:lnTo>
                    <a:pt x="58479" y="255270"/>
                  </a:lnTo>
                  <a:lnTo>
                    <a:pt x="81242" y="245238"/>
                  </a:lnTo>
                  <a:lnTo>
                    <a:pt x="99833" y="217884"/>
                  </a:lnTo>
                  <a:lnTo>
                    <a:pt x="112367" y="177313"/>
                  </a:lnTo>
                  <a:lnTo>
                    <a:pt x="116963" y="127635"/>
                  </a:lnTo>
                  <a:lnTo>
                    <a:pt x="112367" y="77956"/>
                  </a:lnTo>
                  <a:lnTo>
                    <a:pt x="99833" y="37385"/>
                  </a:lnTo>
                  <a:lnTo>
                    <a:pt x="81242" y="10031"/>
                  </a:lnTo>
                  <a:lnTo>
                    <a:pt x="584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632" y="2997326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70">
                  <a:moveTo>
                    <a:pt x="0" y="127635"/>
                  </a:moveTo>
                  <a:lnTo>
                    <a:pt x="4595" y="77956"/>
                  </a:lnTo>
                  <a:lnTo>
                    <a:pt x="17128" y="37385"/>
                  </a:lnTo>
                  <a:lnTo>
                    <a:pt x="35716" y="10031"/>
                  </a:lnTo>
                  <a:lnTo>
                    <a:pt x="58479" y="0"/>
                  </a:lnTo>
                  <a:lnTo>
                    <a:pt x="81242" y="10031"/>
                  </a:lnTo>
                  <a:lnTo>
                    <a:pt x="99833" y="37385"/>
                  </a:lnTo>
                  <a:lnTo>
                    <a:pt x="112367" y="77956"/>
                  </a:lnTo>
                  <a:lnTo>
                    <a:pt x="116963" y="127635"/>
                  </a:lnTo>
                  <a:lnTo>
                    <a:pt x="112367" y="177313"/>
                  </a:lnTo>
                  <a:lnTo>
                    <a:pt x="99833" y="217884"/>
                  </a:lnTo>
                  <a:lnTo>
                    <a:pt x="81242" y="245238"/>
                  </a:lnTo>
                  <a:lnTo>
                    <a:pt x="58479" y="255270"/>
                  </a:lnTo>
                  <a:lnTo>
                    <a:pt x="35716" y="245238"/>
                  </a:lnTo>
                  <a:lnTo>
                    <a:pt x="17128" y="217884"/>
                  </a:lnTo>
                  <a:lnTo>
                    <a:pt x="4595" y="177313"/>
                  </a:lnTo>
                  <a:lnTo>
                    <a:pt x="0" y="12763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-6350" y="3900551"/>
            <a:ext cx="130175" cy="267970"/>
            <a:chOff x="-6350" y="3900551"/>
            <a:chExt cx="130175" cy="267970"/>
          </a:xfrm>
        </p:grpSpPr>
        <p:sp>
          <p:nvSpPr>
            <p:cNvPr id="16" name="object 16"/>
            <p:cNvSpPr/>
            <p:nvPr/>
          </p:nvSpPr>
          <p:spPr>
            <a:xfrm>
              <a:off x="0" y="3906901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70">
                  <a:moveTo>
                    <a:pt x="58478" y="0"/>
                  </a:moveTo>
                  <a:lnTo>
                    <a:pt x="35716" y="10029"/>
                  </a:lnTo>
                  <a:lnTo>
                    <a:pt x="17128" y="37369"/>
                  </a:lnTo>
                  <a:lnTo>
                    <a:pt x="4595" y="77902"/>
                  </a:lnTo>
                  <a:lnTo>
                    <a:pt x="0" y="127507"/>
                  </a:lnTo>
                  <a:lnTo>
                    <a:pt x="4595" y="177186"/>
                  </a:lnTo>
                  <a:lnTo>
                    <a:pt x="17128" y="217757"/>
                  </a:lnTo>
                  <a:lnTo>
                    <a:pt x="35716" y="245111"/>
                  </a:lnTo>
                  <a:lnTo>
                    <a:pt x="58478" y="255143"/>
                  </a:lnTo>
                  <a:lnTo>
                    <a:pt x="81241" y="245111"/>
                  </a:lnTo>
                  <a:lnTo>
                    <a:pt x="99829" y="217757"/>
                  </a:lnTo>
                  <a:lnTo>
                    <a:pt x="112362" y="177186"/>
                  </a:lnTo>
                  <a:lnTo>
                    <a:pt x="116958" y="127507"/>
                  </a:lnTo>
                  <a:lnTo>
                    <a:pt x="112362" y="77902"/>
                  </a:lnTo>
                  <a:lnTo>
                    <a:pt x="99829" y="37369"/>
                  </a:lnTo>
                  <a:lnTo>
                    <a:pt x="81241" y="10029"/>
                  </a:lnTo>
                  <a:lnTo>
                    <a:pt x="584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0" y="3906901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70">
                  <a:moveTo>
                    <a:pt x="0" y="127507"/>
                  </a:moveTo>
                  <a:lnTo>
                    <a:pt x="4595" y="77902"/>
                  </a:lnTo>
                  <a:lnTo>
                    <a:pt x="17128" y="37369"/>
                  </a:lnTo>
                  <a:lnTo>
                    <a:pt x="35716" y="10029"/>
                  </a:lnTo>
                  <a:lnTo>
                    <a:pt x="58478" y="0"/>
                  </a:lnTo>
                  <a:lnTo>
                    <a:pt x="81241" y="10029"/>
                  </a:lnTo>
                  <a:lnTo>
                    <a:pt x="99829" y="37369"/>
                  </a:lnTo>
                  <a:lnTo>
                    <a:pt x="112362" y="77902"/>
                  </a:lnTo>
                  <a:lnTo>
                    <a:pt x="116958" y="127507"/>
                  </a:lnTo>
                  <a:lnTo>
                    <a:pt x="112362" y="177186"/>
                  </a:lnTo>
                  <a:lnTo>
                    <a:pt x="99829" y="217757"/>
                  </a:lnTo>
                  <a:lnTo>
                    <a:pt x="81241" y="245111"/>
                  </a:lnTo>
                  <a:lnTo>
                    <a:pt x="58478" y="255143"/>
                  </a:lnTo>
                  <a:lnTo>
                    <a:pt x="35716" y="245111"/>
                  </a:lnTo>
                  <a:lnTo>
                    <a:pt x="17128" y="217757"/>
                  </a:lnTo>
                  <a:lnTo>
                    <a:pt x="4595" y="177186"/>
                  </a:lnTo>
                  <a:lnTo>
                    <a:pt x="0" y="12750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-6350" y="5001640"/>
            <a:ext cx="114300" cy="267970"/>
            <a:chOff x="-6350" y="5001640"/>
            <a:chExt cx="114300" cy="267970"/>
          </a:xfrm>
        </p:grpSpPr>
        <p:sp>
          <p:nvSpPr>
            <p:cNvPr id="19" name="object 19"/>
            <p:cNvSpPr/>
            <p:nvPr/>
          </p:nvSpPr>
          <p:spPr>
            <a:xfrm>
              <a:off x="0" y="5007990"/>
              <a:ext cx="101600" cy="255270"/>
            </a:xfrm>
            <a:custGeom>
              <a:avLst/>
              <a:gdLst/>
              <a:ahLst/>
              <a:cxnLst/>
              <a:rect l="l" t="t" r="r" b="b"/>
              <a:pathLst>
                <a:path w="101600" h="255270">
                  <a:moveTo>
                    <a:pt x="42531" y="0"/>
                  </a:moveTo>
                  <a:lnTo>
                    <a:pt x="19768" y="10011"/>
                  </a:lnTo>
                  <a:lnTo>
                    <a:pt x="1180" y="37322"/>
                  </a:lnTo>
                  <a:lnTo>
                    <a:pt x="0" y="41139"/>
                  </a:lnTo>
                  <a:lnTo>
                    <a:pt x="0" y="213936"/>
                  </a:lnTo>
                  <a:lnTo>
                    <a:pt x="1180" y="217757"/>
                  </a:lnTo>
                  <a:lnTo>
                    <a:pt x="19768" y="245111"/>
                  </a:lnTo>
                  <a:lnTo>
                    <a:pt x="42531" y="255142"/>
                  </a:lnTo>
                  <a:lnTo>
                    <a:pt x="65293" y="245111"/>
                  </a:lnTo>
                  <a:lnTo>
                    <a:pt x="83881" y="217757"/>
                  </a:lnTo>
                  <a:lnTo>
                    <a:pt x="96414" y="177186"/>
                  </a:lnTo>
                  <a:lnTo>
                    <a:pt x="101009" y="127507"/>
                  </a:lnTo>
                  <a:lnTo>
                    <a:pt x="96414" y="77849"/>
                  </a:lnTo>
                  <a:lnTo>
                    <a:pt x="83881" y="37322"/>
                  </a:lnTo>
                  <a:lnTo>
                    <a:pt x="65293" y="10011"/>
                  </a:lnTo>
                  <a:lnTo>
                    <a:pt x="4253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0" y="5007990"/>
              <a:ext cx="101600" cy="255270"/>
            </a:xfrm>
            <a:custGeom>
              <a:avLst/>
              <a:gdLst/>
              <a:ahLst/>
              <a:cxnLst/>
              <a:rect l="l" t="t" r="r" b="b"/>
              <a:pathLst>
                <a:path w="101600" h="255270">
                  <a:moveTo>
                    <a:pt x="0" y="41139"/>
                  </a:moveTo>
                  <a:lnTo>
                    <a:pt x="1180" y="37322"/>
                  </a:lnTo>
                  <a:lnTo>
                    <a:pt x="19768" y="10011"/>
                  </a:lnTo>
                  <a:lnTo>
                    <a:pt x="42531" y="0"/>
                  </a:lnTo>
                  <a:lnTo>
                    <a:pt x="65293" y="10011"/>
                  </a:lnTo>
                  <a:lnTo>
                    <a:pt x="83881" y="37322"/>
                  </a:lnTo>
                  <a:lnTo>
                    <a:pt x="96414" y="77849"/>
                  </a:lnTo>
                  <a:lnTo>
                    <a:pt x="101009" y="127507"/>
                  </a:lnTo>
                  <a:lnTo>
                    <a:pt x="96414" y="177186"/>
                  </a:lnTo>
                  <a:lnTo>
                    <a:pt x="83881" y="217757"/>
                  </a:lnTo>
                  <a:lnTo>
                    <a:pt x="65293" y="245111"/>
                  </a:lnTo>
                  <a:lnTo>
                    <a:pt x="42531" y="255142"/>
                  </a:lnTo>
                  <a:lnTo>
                    <a:pt x="19768" y="245111"/>
                  </a:lnTo>
                  <a:lnTo>
                    <a:pt x="1180" y="217757"/>
                  </a:lnTo>
                  <a:lnTo>
                    <a:pt x="0" y="213936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4282" y="5866371"/>
            <a:ext cx="130175" cy="267970"/>
            <a:chOff x="4282" y="5866371"/>
            <a:chExt cx="130175" cy="267970"/>
          </a:xfrm>
        </p:grpSpPr>
        <p:sp>
          <p:nvSpPr>
            <p:cNvPr id="22" name="object 22"/>
            <p:cNvSpPr/>
            <p:nvPr/>
          </p:nvSpPr>
          <p:spPr>
            <a:xfrm>
              <a:off x="10632" y="5872721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70">
                  <a:moveTo>
                    <a:pt x="58479" y="0"/>
                  </a:moveTo>
                  <a:lnTo>
                    <a:pt x="35716" y="10026"/>
                  </a:lnTo>
                  <a:lnTo>
                    <a:pt x="17128" y="37371"/>
                  </a:lnTo>
                  <a:lnTo>
                    <a:pt x="4595" y="77929"/>
                  </a:lnTo>
                  <a:lnTo>
                    <a:pt x="0" y="127596"/>
                  </a:lnTo>
                  <a:lnTo>
                    <a:pt x="4595" y="177262"/>
                  </a:lnTo>
                  <a:lnTo>
                    <a:pt x="17128" y="217816"/>
                  </a:lnTo>
                  <a:lnTo>
                    <a:pt x="35716" y="245156"/>
                  </a:lnTo>
                  <a:lnTo>
                    <a:pt x="58479" y="255181"/>
                  </a:lnTo>
                  <a:lnTo>
                    <a:pt x="81242" y="245156"/>
                  </a:lnTo>
                  <a:lnTo>
                    <a:pt x="99833" y="217816"/>
                  </a:lnTo>
                  <a:lnTo>
                    <a:pt x="112367" y="177262"/>
                  </a:lnTo>
                  <a:lnTo>
                    <a:pt x="116963" y="127596"/>
                  </a:lnTo>
                  <a:lnTo>
                    <a:pt x="112367" y="77929"/>
                  </a:lnTo>
                  <a:lnTo>
                    <a:pt x="99833" y="37371"/>
                  </a:lnTo>
                  <a:lnTo>
                    <a:pt x="81242" y="10026"/>
                  </a:lnTo>
                  <a:lnTo>
                    <a:pt x="584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632" y="5872721"/>
              <a:ext cx="117475" cy="255270"/>
            </a:xfrm>
            <a:custGeom>
              <a:avLst/>
              <a:gdLst/>
              <a:ahLst/>
              <a:cxnLst/>
              <a:rect l="l" t="t" r="r" b="b"/>
              <a:pathLst>
                <a:path w="117475" h="255270">
                  <a:moveTo>
                    <a:pt x="0" y="127596"/>
                  </a:moveTo>
                  <a:lnTo>
                    <a:pt x="4595" y="77929"/>
                  </a:lnTo>
                  <a:lnTo>
                    <a:pt x="17128" y="37371"/>
                  </a:lnTo>
                  <a:lnTo>
                    <a:pt x="35716" y="10026"/>
                  </a:lnTo>
                  <a:lnTo>
                    <a:pt x="58479" y="0"/>
                  </a:lnTo>
                  <a:lnTo>
                    <a:pt x="81242" y="10026"/>
                  </a:lnTo>
                  <a:lnTo>
                    <a:pt x="99833" y="37371"/>
                  </a:lnTo>
                  <a:lnTo>
                    <a:pt x="112367" y="77929"/>
                  </a:lnTo>
                  <a:lnTo>
                    <a:pt x="116963" y="127596"/>
                  </a:lnTo>
                  <a:lnTo>
                    <a:pt x="112367" y="177262"/>
                  </a:lnTo>
                  <a:lnTo>
                    <a:pt x="99833" y="217816"/>
                  </a:lnTo>
                  <a:lnTo>
                    <a:pt x="81242" y="245156"/>
                  </a:lnTo>
                  <a:lnTo>
                    <a:pt x="58479" y="255181"/>
                  </a:lnTo>
                  <a:lnTo>
                    <a:pt x="35716" y="245156"/>
                  </a:lnTo>
                  <a:lnTo>
                    <a:pt x="17128" y="217816"/>
                  </a:lnTo>
                  <a:lnTo>
                    <a:pt x="4595" y="177262"/>
                  </a:lnTo>
                  <a:lnTo>
                    <a:pt x="0" y="1275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41673" y="114401"/>
            <a:ext cx="4148454" cy="876935"/>
            <a:chOff x="3741673" y="114401"/>
            <a:chExt cx="4148454" cy="876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1673" y="114401"/>
              <a:ext cx="4148328" cy="8767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1561" y="235965"/>
              <a:ext cx="3748913" cy="47269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2833" y="925525"/>
            <a:ext cx="200787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Frontend</a:t>
            </a:r>
            <a:r>
              <a:rPr dirty="0" u="sng" spc="16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pc="-5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025" y="1450339"/>
            <a:ext cx="4735195" cy="4837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9550" indent="-18161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Arial"/>
              <a:buChar char="•"/>
              <a:tabLst>
                <a:tab pos="209550" algn="l"/>
              </a:tabLst>
            </a:pPr>
            <a:r>
              <a:rPr dirty="0" sz="2000" spc="-20">
                <a:solidFill>
                  <a:srgbClr val="565656"/>
                </a:solidFill>
                <a:latin typeface="Cambria"/>
                <a:cs typeface="Cambria"/>
              </a:rPr>
              <a:t>HTML</a:t>
            </a:r>
            <a:endParaRPr sz="2000">
              <a:latin typeface="Cambria"/>
              <a:cs typeface="Cambria"/>
            </a:endParaRPr>
          </a:p>
          <a:p>
            <a:pPr marL="209550" indent="-181610">
              <a:lnSpc>
                <a:spcPct val="100000"/>
              </a:lnSpc>
              <a:buFont typeface="Arial"/>
              <a:buChar char="•"/>
              <a:tabLst>
                <a:tab pos="209550" algn="l"/>
              </a:tabLst>
            </a:pPr>
            <a:r>
              <a:rPr dirty="0" sz="2000" spc="30">
                <a:solidFill>
                  <a:srgbClr val="565656"/>
                </a:solidFill>
                <a:latin typeface="Cambria"/>
                <a:cs typeface="Cambria"/>
              </a:rPr>
              <a:t>CSS</a:t>
            </a:r>
            <a:endParaRPr sz="2000">
              <a:latin typeface="Cambria"/>
              <a:cs typeface="Cambria"/>
            </a:endParaRPr>
          </a:p>
          <a:p>
            <a:pPr marL="209550" indent="-181610">
              <a:lnSpc>
                <a:spcPct val="100000"/>
              </a:lnSpc>
              <a:buFont typeface="Arial"/>
              <a:buChar char="•"/>
              <a:tabLst>
                <a:tab pos="209550" algn="l"/>
              </a:tabLst>
            </a:pPr>
            <a:r>
              <a:rPr dirty="0" sz="2000" spc="-10">
                <a:solidFill>
                  <a:srgbClr val="565656"/>
                </a:solidFill>
                <a:latin typeface="Cambria"/>
                <a:cs typeface="Cambria"/>
              </a:rPr>
              <a:t>React.js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000">
              <a:latin typeface="Cambria"/>
              <a:cs typeface="Cambria"/>
            </a:endParaRPr>
          </a:p>
          <a:p>
            <a:pPr marL="27940">
              <a:lnSpc>
                <a:spcPct val="100000"/>
              </a:lnSpc>
            </a:pPr>
            <a:r>
              <a:rPr dirty="0" u="sng" sz="28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Backend:</a:t>
            </a:r>
            <a:r>
              <a:rPr dirty="0" sz="2800" spc="355" b="1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565656"/>
                </a:solidFill>
                <a:latin typeface="Cambria"/>
                <a:cs typeface="Cambria"/>
              </a:rPr>
              <a:t>Python</a:t>
            </a:r>
            <a:r>
              <a:rPr dirty="0" sz="2000" spc="60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2000" spc="-20">
                <a:solidFill>
                  <a:srgbClr val="565656"/>
                </a:solidFill>
                <a:latin typeface="Cambria"/>
                <a:cs typeface="Cambria"/>
              </a:rPr>
              <a:t>Flask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2800" spc="7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Machine</a:t>
            </a:r>
            <a:r>
              <a:rPr dirty="0" u="sng" sz="2800" spc="43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800" spc="6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Learning</a:t>
            </a:r>
            <a:r>
              <a:rPr dirty="0" u="sng" sz="2800" spc="3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sz="2800" b="1">
                <a:latin typeface="Cambria"/>
                <a:cs typeface="Cambria"/>
              </a:rPr>
              <a:t>:</a:t>
            </a:r>
            <a:r>
              <a:rPr dirty="0" sz="2800" spc="20" b="1">
                <a:latin typeface="Cambria"/>
                <a:cs typeface="Cambria"/>
              </a:rPr>
              <a:t> </a:t>
            </a:r>
            <a:r>
              <a:rPr dirty="0" sz="2000" spc="45">
                <a:solidFill>
                  <a:srgbClr val="565656"/>
                </a:solidFill>
                <a:latin typeface="Cambria"/>
                <a:cs typeface="Cambria"/>
              </a:rPr>
              <a:t>Scikit-</a:t>
            </a:r>
            <a:r>
              <a:rPr dirty="0" sz="2000" spc="-10">
                <a:solidFill>
                  <a:srgbClr val="565656"/>
                </a:solidFill>
                <a:latin typeface="Cambria"/>
                <a:cs typeface="Cambria"/>
              </a:rPr>
              <a:t>learn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sng" sz="2800" spc="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Database</a:t>
            </a:r>
            <a:r>
              <a:rPr dirty="0" u="sng" sz="2800" spc="3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:</a:t>
            </a:r>
            <a:r>
              <a:rPr dirty="0" sz="2800" spc="65" b="1">
                <a:latin typeface="Cambria"/>
                <a:cs typeface="Cambria"/>
              </a:rPr>
              <a:t> </a:t>
            </a:r>
            <a:r>
              <a:rPr dirty="0" sz="2000" spc="-10" b="1">
                <a:solidFill>
                  <a:srgbClr val="565656"/>
                </a:solidFill>
                <a:latin typeface="Cambria"/>
                <a:cs typeface="Cambria"/>
              </a:rPr>
              <a:t>SQlite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Tools</a:t>
            </a:r>
            <a:r>
              <a:rPr dirty="0" u="sng" sz="2800" spc="7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:</a:t>
            </a:r>
            <a:r>
              <a:rPr dirty="0" sz="2800" spc="5" b="1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565656"/>
                </a:solidFill>
                <a:latin typeface="Cambria"/>
                <a:cs typeface="Cambria"/>
              </a:rPr>
              <a:t>VS</a:t>
            </a:r>
            <a:r>
              <a:rPr dirty="0" sz="2000" spc="235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565656"/>
                </a:solidFill>
                <a:latin typeface="Cambria"/>
                <a:cs typeface="Cambria"/>
              </a:rPr>
              <a:t>Code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79796" y="1065911"/>
            <a:ext cx="5833745" cy="4416425"/>
            <a:chOff x="5479796" y="1065911"/>
            <a:chExt cx="5833745" cy="44164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9796" y="4511090"/>
              <a:ext cx="5833236" cy="9710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92877" y="1065911"/>
              <a:ext cx="5811265" cy="34536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31945" y="350265"/>
            <a:ext cx="6310630" cy="1057275"/>
            <a:chOff x="2631945" y="350265"/>
            <a:chExt cx="6310630" cy="1057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1945" y="1005822"/>
              <a:ext cx="6310127" cy="2049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32836" y="350265"/>
              <a:ext cx="6309360" cy="838200"/>
            </a:xfrm>
            <a:custGeom>
              <a:avLst/>
              <a:gdLst/>
              <a:ahLst/>
              <a:cxnLst/>
              <a:rect l="l" t="t" r="r" b="b"/>
              <a:pathLst>
                <a:path w="6309359" h="838200">
                  <a:moveTo>
                    <a:pt x="630936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6309360" y="838200"/>
                  </a:lnTo>
                  <a:lnTo>
                    <a:pt x="6309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3763" y="1001280"/>
              <a:ext cx="6204966" cy="4061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0367" y="567436"/>
              <a:ext cx="6194806" cy="4460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5444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The</a:t>
            </a:r>
            <a:r>
              <a:rPr dirty="0" sz="2400" spc="265"/>
              <a:t> </a:t>
            </a:r>
            <a:r>
              <a:rPr dirty="0" sz="2400"/>
              <a:t>system</a:t>
            </a:r>
            <a:r>
              <a:rPr dirty="0" sz="2400" spc="335"/>
              <a:t> </a:t>
            </a:r>
            <a:r>
              <a:rPr dirty="0" sz="2400"/>
              <a:t>works</a:t>
            </a:r>
            <a:r>
              <a:rPr dirty="0" sz="2400" spc="185"/>
              <a:t> </a:t>
            </a:r>
            <a:r>
              <a:rPr dirty="0" sz="2400"/>
              <a:t>through</a:t>
            </a:r>
            <a:r>
              <a:rPr dirty="0" sz="2400" spc="229"/>
              <a:t> </a:t>
            </a:r>
            <a:r>
              <a:rPr dirty="0" sz="2400"/>
              <a:t>the</a:t>
            </a:r>
            <a:r>
              <a:rPr dirty="0" sz="2400" spc="210"/>
              <a:t> </a:t>
            </a:r>
            <a:r>
              <a:rPr dirty="0" sz="2400"/>
              <a:t>following</a:t>
            </a:r>
            <a:r>
              <a:rPr dirty="0" sz="2400" spc="350"/>
              <a:t> </a:t>
            </a:r>
            <a:r>
              <a:rPr dirty="0" sz="2400"/>
              <a:t>steps</a:t>
            </a:r>
            <a:r>
              <a:rPr dirty="0" sz="2400" spc="345"/>
              <a:t> </a:t>
            </a:r>
            <a:r>
              <a:rPr dirty="0" sz="2400" spc="-50"/>
              <a:t>:</a:t>
            </a:r>
            <a:endParaRPr sz="240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29965" y="2024507"/>
            <a:ext cx="8662035" cy="25336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931" y="1780794"/>
            <a:ext cx="3448050" cy="490855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110"/>
              </a:spcBef>
              <a:buClr>
                <a:srgbClr val="9E3611"/>
              </a:buClr>
              <a:buSzPct val="83333"/>
              <a:buFont typeface="Wingdings"/>
              <a:buChar char=""/>
              <a:tabLst>
                <a:tab pos="194945" algn="l"/>
              </a:tabLst>
            </a:pP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 spc="50">
                <a:latin typeface="Calibri"/>
                <a:cs typeface="Calibri"/>
              </a:rPr>
              <a:t>Collection</a:t>
            </a:r>
            <a:r>
              <a:rPr dirty="0" sz="1800" spc="3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(Student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dataset)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010"/>
              </a:spcBef>
              <a:buClr>
                <a:srgbClr val="9E3611"/>
              </a:buClr>
              <a:buSzPct val="83333"/>
              <a:buFont typeface="Wingdings"/>
              <a:buChar char=""/>
              <a:tabLst>
                <a:tab pos="194945" algn="l"/>
              </a:tabLst>
            </a:pP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Preprocessing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994"/>
              </a:spcBef>
              <a:buClr>
                <a:srgbClr val="9E3611"/>
              </a:buClr>
              <a:buSzPct val="83333"/>
              <a:buFont typeface="Wingdings"/>
              <a:buChar char=""/>
              <a:tabLst>
                <a:tab pos="194945" algn="l"/>
              </a:tabLst>
            </a:pPr>
            <a:r>
              <a:rPr dirty="0" sz="1800">
                <a:latin typeface="Calibri"/>
                <a:cs typeface="Calibri"/>
              </a:rPr>
              <a:t>Feature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Selection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994"/>
              </a:spcBef>
              <a:buClr>
                <a:srgbClr val="9E3611"/>
              </a:buClr>
              <a:buSzPct val="83333"/>
              <a:buFont typeface="Wingdings"/>
              <a:buChar char=""/>
              <a:tabLst>
                <a:tab pos="194945" algn="l"/>
              </a:tabLst>
            </a:pP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4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Training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010"/>
              </a:spcBef>
              <a:buClr>
                <a:srgbClr val="9E3611"/>
              </a:buClr>
              <a:buSzPct val="83333"/>
              <a:buFont typeface="Wingdings"/>
              <a:buChar char=""/>
              <a:tabLst>
                <a:tab pos="194945" algn="l"/>
              </a:tabLst>
            </a:pPr>
            <a:r>
              <a:rPr dirty="0" sz="1800">
                <a:latin typeface="Calibri"/>
                <a:cs typeface="Calibri"/>
              </a:rPr>
              <a:t>Student</a:t>
            </a:r>
            <a:r>
              <a:rPr dirty="0" sz="1800" spc="1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Classification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994"/>
              </a:spcBef>
              <a:buClr>
                <a:srgbClr val="9E3611"/>
              </a:buClr>
              <a:buSzPct val="83333"/>
              <a:buFont typeface="Wingdings"/>
              <a:buChar char=""/>
              <a:tabLst>
                <a:tab pos="194945" algn="l"/>
              </a:tabLst>
            </a:pPr>
            <a:r>
              <a:rPr dirty="0" sz="1800">
                <a:latin typeface="Calibri"/>
                <a:cs typeface="Calibri"/>
              </a:rPr>
              <a:t>Performance</a:t>
            </a:r>
            <a:r>
              <a:rPr dirty="0" sz="1800" spc="60">
                <a:latin typeface="Calibri"/>
                <a:cs typeface="Calibri"/>
              </a:rPr>
              <a:t>  </a:t>
            </a:r>
            <a:r>
              <a:rPr dirty="0" sz="1800" spc="-1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000"/>
              </a:spcBef>
              <a:buClr>
                <a:srgbClr val="9E3611"/>
              </a:buClr>
              <a:buSzPct val="83333"/>
              <a:buFont typeface="Wingdings"/>
              <a:buChar char=""/>
              <a:tabLst>
                <a:tab pos="194945" algn="l"/>
              </a:tabLst>
            </a:pPr>
            <a:r>
              <a:rPr dirty="0" sz="1800" spc="-10">
                <a:latin typeface="Calibri"/>
                <a:cs typeface="Calibri"/>
              </a:rPr>
              <a:t>Result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Visualization</a:t>
            </a:r>
            <a:endParaRPr sz="1800">
              <a:latin typeface="Calibri"/>
              <a:cs typeface="Calibri"/>
            </a:endParaRPr>
          </a:p>
          <a:p>
            <a:pPr marL="180975">
              <a:lnSpc>
                <a:spcPct val="100000"/>
              </a:lnSpc>
              <a:spcBef>
                <a:spcPts val="745"/>
              </a:spcBef>
            </a:pPr>
            <a:r>
              <a:rPr dirty="0" sz="1800" b="1">
                <a:latin typeface="Cambria"/>
                <a:cs typeface="Cambria"/>
              </a:rPr>
              <a:t>Focus</a:t>
            </a:r>
            <a:r>
              <a:rPr dirty="0" sz="1800" spc="4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Areas: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Cambria"/>
              <a:cs typeface="Cambria"/>
            </a:endParaRPr>
          </a:p>
          <a:p>
            <a:pPr lvl="1" marL="316230" indent="-135255">
              <a:lnSpc>
                <a:spcPct val="100000"/>
              </a:lnSpc>
              <a:buFont typeface="Arial"/>
              <a:buChar char="•"/>
              <a:tabLst>
                <a:tab pos="316230" algn="l"/>
              </a:tabLst>
            </a:pPr>
            <a:r>
              <a:rPr dirty="0" sz="1800">
                <a:latin typeface="Cambria"/>
                <a:cs typeface="Cambria"/>
              </a:rPr>
              <a:t>Accuracy</a:t>
            </a:r>
            <a:r>
              <a:rPr dirty="0" sz="1800" spc="85">
                <a:latin typeface="Cambria"/>
                <a:cs typeface="Cambria"/>
              </a:rPr>
              <a:t>  </a:t>
            </a:r>
            <a:r>
              <a:rPr dirty="0" sz="1800" spc="-10">
                <a:latin typeface="Cambria"/>
                <a:cs typeface="Cambria"/>
              </a:rPr>
              <a:t>optimization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Font typeface="Arial"/>
              <a:buChar char="•"/>
            </a:pPr>
            <a:endParaRPr sz="1800">
              <a:latin typeface="Cambria"/>
              <a:cs typeface="Cambria"/>
            </a:endParaRPr>
          </a:p>
          <a:p>
            <a:pPr lvl="1" marL="316230" indent="-135255">
              <a:lnSpc>
                <a:spcPct val="100000"/>
              </a:lnSpc>
              <a:buFont typeface="Arial"/>
              <a:buChar char="•"/>
              <a:tabLst>
                <a:tab pos="316230" algn="l"/>
              </a:tabLst>
            </a:pPr>
            <a:r>
              <a:rPr dirty="0" sz="1800">
                <a:latin typeface="Cambria"/>
                <a:cs typeface="Cambria"/>
              </a:rPr>
              <a:t>User-friendly</a:t>
            </a:r>
            <a:r>
              <a:rPr dirty="0" sz="1800" spc="85">
                <a:latin typeface="Cambria"/>
                <a:cs typeface="Cambria"/>
              </a:rPr>
              <a:t>  </a:t>
            </a:r>
            <a:r>
              <a:rPr dirty="0" sz="1800" spc="-10">
                <a:latin typeface="Cambria"/>
                <a:cs typeface="Cambria"/>
              </a:rPr>
              <a:t>dashboard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Font typeface="Arial"/>
              <a:buChar char="•"/>
            </a:pPr>
            <a:endParaRPr sz="1800">
              <a:latin typeface="Cambria"/>
              <a:cs typeface="Cambria"/>
            </a:endParaRPr>
          </a:p>
          <a:p>
            <a:pPr lvl="1" marL="316230" indent="-135255">
              <a:lnSpc>
                <a:spcPct val="100000"/>
              </a:lnSpc>
              <a:buFont typeface="Arial"/>
              <a:buChar char="•"/>
              <a:tabLst>
                <a:tab pos="316230" algn="l"/>
              </a:tabLst>
            </a:pPr>
            <a:r>
              <a:rPr dirty="0" sz="1800" spc="-20">
                <a:latin typeface="Cambria"/>
                <a:cs typeface="Cambria"/>
              </a:rPr>
              <a:t>Real-</a:t>
            </a:r>
            <a:r>
              <a:rPr dirty="0" sz="1800">
                <a:latin typeface="Cambria"/>
                <a:cs typeface="Cambria"/>
              </a:rPr>
              <a:t>time</a:t>
            </a:r>
            <a:r>
              <a:rPr dirty="0" sz="1800" spc="38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prediction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0739" y="56413"/>
            <a:ext cx="7540625" cy="929640"/>
            <a:chOff x="2110739" y="56413"/>
            <a:chExt cx="7540625" cy="929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0739" y="56413"/>
              <a:ext cx="7540625" cy="9294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9611" y="180593"/>
              <a:ext cx="7142988" cy="52133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-16967" y="682878"/>
            <a:ext cx="38766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Login</a:t>
            </a:r>
            <a:r>
              <a:rPr dirty="0" u="sng" sz="2400" spc="-12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2400" spc="-12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Registration</a:t>
            </a:r>
            <a:r>
              <a:rPr dirty="0" u="sng" sz="2400" spc="-9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Page: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" y="1187632"/>
            <a:ext cx="5901054" cy="56139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1187631"/>
            <a:ext cx="6096000" cy="5613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4942" y="66548"/>
            <a:ext cx="48533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400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Student</a:t>
            </a:r>
            <a:r>
              <a:rPr dirty="0" u="sng" sz="2400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800" spc="-2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Dashboard</a:t>
            </a:r>
            <a:r>
              <a:rPr dirty="0" u="sng" sz="2800" spc="-7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overview: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576376"/>
            <a:ext cx="12191999" cy="6281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18" y="378586"/>
            <a:ext cx="3058795" cy="521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1396" y="378586"/>
            <a:ext cx="2022094" cy="5213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9650" y="378586"/>
            <a:ext cx="2415413" cy="52133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300" rIns="0" bIns="0" rtlCol="0" vert="horz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Prediction</a:t>
            </a:r>
            <a:r>
              <a:rPr dirty="0" u="sng" sz="2400" spc="-16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Result</a:t>
            </a:r>
            <a:r>
              <a:rPr dirty="0" u="sng" sz="2400" spc="-1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Page</a:t>
            </a:r>
            <a:r>
              <a:rPr dirty="0" sz="2400" spc="-1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692775"/>
            <a:ext cx="12191999" cy="5090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704" y="195453"/>
            <a:ext cx="31711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Prediction</a:t>
            </a:r>
            <a:r>
              <a:rPr dirty="0" u="sng" sz="2800" spc="-18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History: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8198"/>
            <a:ext cx="12191999" cy="60197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0695" y="-25"/>
            <a:ext cx="7672705" cy="876935"/>
            <a:chOff x="1750695" y="-25"/>
            <a:chExt cx="7672705" cy="876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0695" y="-25"/>
              <a:ext cx="7672197" cy="8767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0710" y="121793"/>
              <a:ext cx="7274179" cy="47269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4375" y="884046"/>
            <a:ext cx="168021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dirty="0" spc="-135"/>
              <a:t> </a:t>
            </a:r>
            <a:r>
              <a:rPr dirty="0" spc="-50"/>
              <a:t>: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40220" y="1683257"/>
            <a:ext cx="255904" cy="257175"/>
            <a:chOff x="440220" y="1683257"/>
            <a:chExt cx="255904" cy="2571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570" y="1689607"/>
              <a:ext cx="242912" cy="2444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6570" y="1689607"/>
              <a:ext cx="243204" cy="244475"/>
            </a:xfrm>
            <a:custGeom>
              <a:avLst/>
              <a:gdLst/>
              <a:ahLst/>
              <a:cxnLst/>
              <a:rect l="l" t="t" r="r" b="b"/>
              <a:pathLst>
                <a:path w="243204" h="244475">
                  <a:moveTo>
                    <a:pt x="0" y="122174"/>
                  </a:moveTo>
                  <a:lnTo>
                    <a:pt x="9545" y="74634"/>
                  </a:lnTo>
                  <a:lnTo>
                    <a:pt x="35574" y="35798"/>
                  </a:lnTo>
                  <a:lnTo>
                    <a:pt x="74178" y="9606"/>
                  </a:lnTo>
                  <a:lnTo>
                    <a:pt x="121450" y="0"/>
                  </a:lnTo>
                  <a:lnTo>
                    <a:pt x="168728" y="9606"/>
                  </a:lnTo>
                  <a:lnTo>
                    <a:pt x="207337" y="35798"/>
                  </a:lnTo>
                  <a:lnTo>
                    <a:pt x="233367" y="74634"/>
                  </a:lnTo>
                  <a:lnTo>
                    <a:pt x="242912" y="122174"/>
                  </a:lnTo>
                  <a:lnTo>
                    <a:pt x="233367" y="169787"/>
                  </a:lnTo>
                  <a:lnTo>
                    <a:pt x="207337" y="208661"/>
                  </a:lnTo>
                  <a:lnTo>
                    <a:pt x="168728" y="234866"/>
                  </a:lnTo>
                  <a:lnTo>
                    <a:pt x="121450" y="244475"/>
                  </a:lnTo>
                  <a:lnTo>
                    <a:pt x="74178" y="234866"/>
                  </a:lnTo>
                  <a:lnTo>
                    <a:pt x="35574" y="208661"/>
                  </a:lnTo>
                  <a:lnTo>
                    <a:pt x="9545" y="169787"/>
                  </a:lnTo>
                  <a:lnTo>
                    <a:pt x="0" y="12217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40220" y="2264029"/>
            <a:ext cx="255904" cy="257175"/>
            <a:chOff x="440220" y="2264029"/>
            <a:chExt cx="255904" cy="25717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6570" y="2270379"/>
              <a:ext cx="242912" cy="2444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6570" y="2270379"/>
              <a:ext cx="243204" cy="244475"/>
            </a:xfrm>
            <a:custGeom>
              <a:avLst/>
              <a:gdLst/>
              <a:ahLst/>
              <a:cxnLst/>
              <a:rect l="l" t="t" r="r" b="b"/>
              <a:pathLst>
                <a:path w="243204" h="244475">
                  <a:moveTo>
                    <a:pt x="0" y="122300"/>
                  </a:moveTo>
                  <a:lnTo>
                    <a:pt x="9545" y="74687"/>
                  </a:lnTo>
                  <a:lnTo>
                    <a:pt x="35574" y="35813"/>
                  </a:lnTo>
                  <a:lnTo>
                    <a:pt x="74178" y="9608"/>
                  </a:lnTo>
                  <a:lnTo>
                    <a:pt x="121450" y="0"/>
                  </a:lnTo>
                  <a:lnTo>
                    <a:pt x="168728" y="9608"/>
                  </a:lnTo>
                  <a:lnTo>
                    <a:pt x="207337" y="35813"/>
                  </a:lnTo>
                  <a:lnTo>
                    <a:pt x="233367" y="74687"/>
                  </a:lnTo>
                  <a:lnTo>
                    <a:pt x="242912" y="122300"/>
                  </a:lnTo>
                  <a:lnTo>
                    <a:pt x="233367" y="169840"/>
                  </a:lnTo>
                  <a:lnTo>
                    <a:pt x="207337" y="208676"/>
                  </a:lnTo>
                  <a:lnTo>
                    <a:pt x="168728" y="234868"/>
                  </a:lnTo>
                  <a:lnTo>
                    <a:pt x="121450" y="244475"/>
                  </a:lnTo>
                  <a:lnTo>
                    <a:pt x="74178" y="234868"/>
                  </a:lnTo>
                  <a:lnTo>
                    <a:pt x="35574" y="208676"/>
                  </a:lnTo>
                  <a:lnTo>
                    <a:pt x="9545" y="169840"/>
                  </a:lnTo>
                  <a:lnTo>
                    <a:pt x="0" y="1223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440220" y="2981198"/>
            <a:ext cx="255904" cy="257175"/>
            <a:chOff x="440220" y="2981198"/>
            <a:chExt cx="255904" cy="25717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6570" y="2987548"/>
              <a:ext cx="242912" cy="2444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6570" y="2987548"/>
              <a:ext cx="243204" cy="244475"/>
            </a:xfrm>
            <a:custGeom>
              <a:avLst/>
              <a:gdLst/>
              <a:ahLst/>
              <a:cxnLst/>
              <a:rect l="l" t="t" r="r" b="b"/>
              <a:pathLst>
                <a:path w="243204" h="244475">
                  <a:moveTo>
                    <a:pt x="0" y="122300"/>
                  </a:moveTo>
                  <a:lnTo>
                    <a:pt x="9545" y="74687"/>
                  </a:lnTo>
                  <a:lnTo>
                    <a:pt x="35574" y="35813"/>
                  </a:lnTo>
                  <a:lnTo>
                    <a:pt x="74178" y="9608"/>
                  </a:lnTo>
                  <a:lnTo>
                    <a:pt x="121450" y="0"/>
                  </a:lnTo>
                  <a:lnTo>
                    <a:pt x="168728" y="9608"/>
                  </a:lnTo>
                  <a:lnTo>
                    <a:pt x="207337" y="35813"/>
                  </a:lnTo>
                  <a:lnTo>
                    <a:pt x="233367" y="74687"/>
                  </a:lnTo>
                  <a:lnTo>
                    <a:pt x="242912" y="122300"/>
                  </a:lnTo>
                  <a:lnTo>
                    <a:pt x="233367" y="169840"/>
                  </a:lnTo>
                  <a:lnTo>
                    <a:pt x="207337" y="208676"/>
                  </a:lnTo>
                  <a:lnTo>
                    <a:pt x="168728" y="234868"/>
                  </a:lnTo>
                  <a:lnTo>
                    <a:pt x="121450" y="244475"/>
                  </a:lnTo>
                  <a:lnTo>
                    <a:pt x="74178" y="234868"/>
                  </a:lnTo>
                  <a:lnTo>
                    <a:pt x="35574" y="208676"/>
                  </a:lnTo>
                  <a:lnTo>
                    <a:pt x="9545" y="169840"/>
                  </a:lnTo>
                  <a:lnTo>
                    <a:pt x="0" y="1223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440220" y="3752469"/>
            <a:ext cx="255904" cy="257175"/>
            <a:chOff x="440220" y="3752469"/>
            <a:chExt cx="255904" cy="25717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570" y="3758819"/>
              <a:ext cx="242912" cy="244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6570" y="3758819"/>
              <a:ext cx="243204" cy="244475"/>
            </a:xfrm>
            <a:custGeom>
              <a:avLst/>
              <a:gdLst/>
              <a:ahLst/>
              <a:cxnLst/>
              <a:rect l="l" t="t" r="r" b="b"/>
              <a:pathLst>
                <a:path w="243204" h="244475">
                  <a:moveTo>
                    <a:pt x="0" y="122173"/>
                  </a:moveTo>
                  <a:lnTo>
                    <a:pt x="9545" y="74634"/>
                  </a:lnTo>
                  <a:lnTo>
                    <a:pt x="35574" y="35798"/>
                  </a:lnTo>
                  <a:lnTo>
                    <a:pt x="74178" y="9606"/>
                  </a:lnTo>
                  <a:lnTo>
                    <a:pt x="121450" y="0"/>
                  </a:lnTo>
                  <a:lnTo>
                    <a:pt x="168728" y="9606"/>
                  </a:lnTo>
                  <a:lnTo>
                    <a:pt x="207337" y="35798"/>
                  </a:lnTo>
                  <a:lnTo>
                    <a:pt x="233367" y="74634"/>
                  </a:lnTo>
                  <a:lnTo>
                    <a:pt x="242912" y="122173"/>
                  </a:lnTo>
                  <a:lnTo>
                    <a:pt x="233367" y="169787"/>
                  </a:lnTo>
                  <a:lnTo>
                    <a:pt x="207337" y="208660"/>
                  </a:lnTo>
                  <a:lnTo>
                    <a:pt x="168728" y="234866"/>
                  </a:lnTo>
                  <a:lnTo>
                    <a:pt x="121450" y="244474"/>
                  </a:lnTo>
                  <a:lnTo>
                    <a:pt x="74178" y="234866"/>
                  </a:lnTo>
                  <a:lnTo>
                    <a:pt x="35574" y="208660"/>
                  </a:lnTo>
                  <a:lnTo>
                    <a:pt x="9545" y="169787"/>
                  </a:lnTo>
                  <a:lnTo>
                    <a:pt x="0" y="12217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80389" y="1609089"/>
            <a:ext cx="3486150" cy="2453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mbria"/>
                <a:cs typeface="Cambria"/>
              </a:rPr>
              <a:t>View</a:t>
            </a:r>
            <a:r>
              <a:rPr dirty="0" sz="2000" spc="29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predicted</a:t>
            </a:r>
            <a:r>
              <a:rPr dirty="0" sz="2000" spc="33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performance.</a:t>
            </a:r>
            <a:endParaRPr sz="2000">
              <a:latin typeface="Cambria"/>
              <a:cs typeface="Cambria"/>
            </a:endParaRPr>
          </a:p>
          <a:p>
            <a:pPr marL="12700" marR="5080" indent="42545">
              <a:lnSpc>
                <a:spcPts val="5620"/>
              </a:lnSpc>
            </a:pPr>
            <a:r>
              <a:rPr dirty="0" sz="2000" spc="75">
                <a:latin typeface="Cambria"/>
                <a:cs typeface="Cambria"/>
              </a:rPr>
              <a:t>Academic</a:t>
            </a:r>
            <a:r>
              <a:rPr dirty="0" sz="2000" spc="60">
                <a:latin typeface="Cambria"/>
                <a:cs typeface="Cambria"/>
              </a:rPr>
              <a:t>  </a:t>
            </a:r>
            <a:r>
              <a:rPr dirty="0" sz="2000">
                <a:latin typeface="Cambria"/>
                <a:cs typeface="Cambria"/>
              </a:rPr>
              <a:t>progress</a:t>
            </a:r>
            <a:r>
              <a:rPr dirty="0" sz="2000" spc="3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tracking. </a:t>
            </a:r>
            <a:r>
              <a:rPr dirty="0" sz="2000">
                <a:latin typeface="Cambria"/>
                <a:cs typeface="Cambria"/>
              </a:rPr>
              <a:t>Performance</a:t>
            </a:r>
            <a:r>
              <a:rPr dirty="0" sz="2000" spc="70">
                <a:latin typeface="Cambria"/>
                <a:cs typeface="Cambria"/>
              </a:rPr>
              <a:t>  </a:t>
            </a:r>
            <a:r>
              <a:rPr dirty="0" sz="2000">
                <a:latin typeface="Cambria"/>
                <a:cs typeface="Cambria"/>
              </a:rPr>
              <a:t>analytics</a:t>
            </a:r>
            <a:r>
              <a:rPr dirty="0" sz="2000" spc="45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graphs.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mbria"/>
                <a:cs typeface="Cambria"/>
              </a:rPr>
              <a:t>Improvement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suggestions.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4311" y="998599"/>
            <a:ext cx="7917688" cy="58593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85594" y="177190"/>
            <a:ext cx="10106660" cy="6680834"/>
            <a:chOff x="2085594" y="177190"/>
            <a:chExt cx="10106660" cy="66808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5594" y="248691"/>
              <a:ext cx="3458590" cy="9294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5101" y="372998"/>
              <a:ext cx="3058795" cy="5214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8722" y="177190"/>
              <a:ext cx="2572257" cy="10724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4683" y="372998"/>
              <a:ext cx="2021078" cy="5214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1005" y="177190"/>
              <a:ext cx="2965323" cy="10724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6966" y="372998"/>
              <a:ext cx="2415413" cy="5214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8065" y="1178176"/>
              <a:ext cx="8623935" cy="5679819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33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dirty="0" spc="-25"/>
              <a:t> </a:t>
            </a:r>
            <a:r>
              <a:rPr dirty="0" spc="-50"/>
              <a:t>: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16928" y="2066544"/>
            <a:ext cx="269875" cy="247650"/>
            <a:chOff x="216928" y="2066544"/>
            <a:chExt cx="269875" cy="247650"/>
          </a:xfrm>
        </p:grpSpPr>
        <p:sp>
          <p:nvSpPr>
            <p:cNvPr id="13" name="object 13"/>
            <p:cNvSpPr/>
            <p:nvPr/>
          </p:nvSpPr>
          <p:spPr>
            <a:xfrm>
              <a:off x="223278" y="2072894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128384" y="0"/>
                  </a:moveTo>
                  <a:lnTo>
                    <a:pt x="78411" y="9229"/>
                  </a:lnTo>
                  <a:lnTo>
                    <a:pt x="37603" y="34401"/>
                  </a:lnTo>
                  <a:lnTo>
                    <a:pt x="10089" y="71741"/>
                  </a:lnTo>
                  <a:lnTo>
                    <a:pt x="0" y="117475"/>
                  </a:lnTo>
                  <a:lnTo>
                    <a:pt x="10089" y="163135"/>
                  </a:lnTo>
                  <a:lnTo>
                    <a:pt x="37603" y="200437"/>
                  </a:lnTo>
                  <a:lnTo>
                    <a:pt x="78411" y="225595"/>
                  </a:lnTo>
                  <a:lnTo>
                    <a:pt x="128384" y="234822"/>
                  </a:lnTo>
                  <a:lnTo>
                    <a:pt x="178355" y="225595"/>
                  </a:lnTo>
                  <a:lnTo>
                    <a:pt x="219159" y="200437"/>
                  </a:lnTo>
                  <a:lnTo>
                    <a:pt x="246668" y="163135"/>
                  </a:lnTo>
                  <a:lnTo>
                    <a:pt x="256755" y="117475"/>
                  </a:lnTo>
                  <a:lnTo>
                    <a:pt x="246668" y="71741"/>
                  </a:lnTo>
                  <a:lnTo>
                    <a:pt x="219159" y="34401"/>
                  </a:lnTo>
                  <a:lnTo>
                    <a:pt x="178355" y="9229"/>
                  </a:lnTo>
                  <a:lnTo>
                    <a:pt x="1283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3278" y="2072894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0" y="117475"/>
                  </a:moveTo>
                  <a:lnTo>
                    <a:pt x="10089" y="71741"/>
                  </a:lnTo>
                  <a:lnTo>
                    <a:pt x="37603" y="34401"/>
                  </a:lnTo>
                  <a:lnTo>
                    <a:pt x="78411" y="9229"/>
                  </a:lnTo>
                  <a:lnTo>
                    <a:pt x="128384" y="0"/>
                  </a:lnTo>
                  <a:lnTo>
                    <a:pt x="178355" y="9229"/>
                  </a:lnTo>
                  <a:lnTo>
                    <a:pt x="219159" y="34401"/>
                  </a:lnTo>
                  <a:lnTo>
                    <a:pt x="246668" y="71741"/>
                  </a:lnTo>
                  <a:lnTo>
                    <a:pt x="256755" y="117475"/>
                  </a:lnTo>
                  <a:lnTo>
                    <a:pt x="246668" y="163135"/>
                  </a:lnTo>
                  <a:lnTo>
                    <a:pt x="219159" y="200437"/>
                  </a:lnTo>
                  <a:lnTo>
                    <a:pt x="178355" y="225595"/>
                  </a:lnTo>
                  <a:lnTo>
                    <a:pt x="128384" y="234822"/>
                  </a:lnTo>
                  <a:lnTo>
                    <a:pt x="78411" y="225595"/>
                  </a:lnTo>
                  <a:lnTo>
                    <a:pt x="37603" y="200437"/>
                  </a:lnTo>
                  <a:lnTo>
                    <a:pt x="10089" y="163135"/>
                  </a:lnTo>
                  <a:lnTo>
                    <a:pt x="0" y="11747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38988" y="2648585"/>
            <a:ext cx="269875" cy="247650"/>
            <a:chOff x="238988" y="2648585"/>
            <a:chExt cx="269875" cy="247650"/>
          </a:xfrm>
        </p:grpSpPr>
        <p:sp>
          <p:nvSpPr>
            <p:cNvPr id="16" name="object 16"/>
            <p:cNvSpPr/>
            <p:nvPr/>
          </p:nvSpPr>
          <p:spPr>
            <a:xfrm>
              <a:off x="245338" y="2654935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128371" y="0"/>
                  </a:moveTo>
                  <a:lnTo>
                    <a:pt x="78400" y="9209"/>
                  </a:lnTo>
                  <a:lnTo>
                    <a:pt x="37596" y="34337"/>
                  </a:lnTo>
                  <a:lnTo>
                    <a:pt x="10087" y="71633"/>
                  </a:lnTo>
                  <a:lnTo>
                    <a:pt x="0" y="117348"/>
                  </a:lnTo>
                  <a:lnTo>
                    <a:pt x="10087" y="163008"/>
                  </a:lnTo>
                  <a:lnTo>
                    <a:pt x="37596" y="200310"/>
                  </a:lnTo>
                  <a:lnTo>
                    <a:pt x="78400" y="225468"/>
                  </a:lnTo>
                  <a:lnTo>
                    <a:pt x="128371" y="234695"/>
                  </a:lnTo>
                  <a:lnTo>
                    <a:pt x="178342" y="225468"/>
                  </a:lnTo>
                  <a:lnTo>
                    <a:pt x="219146" y="200310"/>
                  </a:lnTo>
                  <a:lnTo>
                    <a:pt x="246656" y="163008"/>
                  </a:lnTo>
                  <a:lnTo>
                    <a:pt x="256743" y="117348"/>
                  </a:lnTo>
                  <a:lnTo>
                    <a:pt x="246656" y="71633"/>
                  </a:lnTo>
                  <a:lnTo>
                    <a:pt x="219146" y="34337"/>
                  </a:lnTo>
                  <a:lnTo>
                    <a:pt x="178342" y="9209"/>
                  </a:lnTo>
                  <a:lnTo>
                    <a:pt x="12837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5338" y="2654935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0" y="117348"/>
                  </a:moveTo>
                  <a:lnTo>
                    <a:pt x="10087" y="71633"/>
                  </a:lnTo>
                  <a:lnTo>
                    <a:pt x="37596" y="34337"/>
                  </a:lnTo>
                  <a:lnTo>
                    <a:pt x="78400" y="9209"/>
                  </a:lnTo>
                  <a:lnTo>
                    <a:pt x="128371" y="0"/>
                  </a:lnTo>
                  <a:lnTo>
                    <a:pt x="178342" y="9209"/>
                  </a:lnTo>
                  <a:lnTo>
                    <a:pt x="219146" y="34337"/>
                  </a:lnTo>
                  <a:lnTo>
                    <a:pt x="246656" y="71633"/>
                  </a:lnTo>
                  <a:lnTo>
                    <a:pt x="256743" y="117348"/>
                  </a:lnTo>
                  <a:lnTo>
                    <a:pt x="246656" y="163008"/>
                  </a:lnTo>
                  <a:lnTo>
                    <a:pt x="219146" y="200310"/>
                  </a:lnTo>
                  <a:lnTo>
                    <a:pt x="178342" y="225468"/>
                  </a:lnTo>
                  <a:lnTo>
                    <a:pt x="128371" y="234695"/>
                  </a:lnTo>
                  <a:lnTo>
                    <a:pt x="78400" y="225468"/>
                  </a:lnTo>
                  <a:lnTo>
                    <a:pt x="37596" y="200310"/>
                  </a:lnTo>
                  <a:lnTo>
                    <a:pt x="10087" y="163008"/>
                  </a:lnTo>
                  <a:lnTo>
                    <a:pt x="0" y="11734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238988" y="3337559"/>
            <a:ext cx="269875" cy="247650"/>
            <a:chOff x="238988" y="3337559"/>
            <a:chExt cx="269875" cy="247650"/>
          </a:xfrm>
        </p:grpSpPr>
        <p:sp>
          <p:nvSpPr>
            <p:cNvPr id="19" name="object 19"/>
            <p:cNvSpPr/>
            <p:nvPr/>
          </p:nvSpPr>
          <p:spPr>
            <a:xfrm>
              <a:off x="245338" y="3343909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128371" y="0"/>
                  </a:moveTo>
                  <a:lnTo>
                    <a:pt x="78400" y="9227"/>
                  </a:lnTo>
                  <a:lnTo>
                    <a:pt x="37596" y="34385"/>
                  </a:lnTo>
                  <a:lnTo>
                    <a:pt x="10087" y="71687"/>
                  </a:lnTo>
                  <a:lnTo>
                    <a:pt x="0" y="117348"/>
                  </a:lnTo>
                  <a:lnTo>
                    <a:pt x="10087" y="163008"/>
                  </a:lnTo>
                  <a:lnTo>
                    <a:pt x="37596" y="200310"/>
                  </a:lnTo>
                  <a:lnTo>
                    <a:pt x="78400" y="225468"/>
                  </a:lnTo>
                  <a:lnTo>
                    <a:pt x="128371" y="234695"/>
                  </a:lnTo>
                  <a:lnTo>
                    <a:pt x="178342" y="225468"/>
                  </a:lnTo>
                  <a:lnTo>
                    <a:pt x="219146" y="200310"/>
                  </a:lnTo>
                  <a:lnTo>
                    <a:pt x="246656" y="163008"/>
                  </a:lnTo>
                  <a:lnTo>
                    <a:pt x="256743" y="117348"/>
                  </a:lnTo>
                  <a:lnTo>
                    <a:pt x="246656" y="71687"/>
                  </a:lnTo>
                  <a:lnTo>
                    <a:pt x="219146" y="34385"/>
                  </a:lnTo>
                  <a:lnTo>
                    <a:pt x="178342" y="9227"/>
                  </a:lnTo>
                  <a:lnTo>
                    <a:pt x="12837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45338" y="3343909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0" y="117348"/>
                  </a:moveTo>
                  <a:lnTo>
                    <a:pt x="10087" y="71687"/>
                  </a:lnTo>
                  <a:lnTo>
                    <a:pt x="37596" y="34385"/>
                  </a:lnTo>
                  <a:lnTo>
                    <a:pt x="78400" y="9227"/>
                  </a:lnTo>
                  <a:lnTo>
                    <a:pt x="128371" y="0"/>
                  </a:lnTo>
                  <a:lnTo>
                    <a:pt x="178342" y="9227"/>
                  </a:lnTo>
                  <a:lnTo>
                    <a:pt x="219146" y="34385"/>
                  </a:lnTo>
                  <a:lnTo>
                    <a:pt x="246656" y="71687"/>
                  </a:lnTo>
                  <a:lnTo>
                    <a:pt x="256743" y="117348"/>
                  </a:lnTo>
                  <a:lnTo>
                    <a:pt x="246656" y="163008"/>
                  </a:lnTo>
                  <a:lnTo>
                    <a:pt x="219146" y="200310"/>
                  </a:lnTo>
                  <a:lnTo>
                    <a:pt x="178342" y="225468"/>
                  </a:lnTo>
                  <a:lnTo>
                    <a:pt x="128371" y="234695"/>
                  </a:lnTo>
                  <a:lnTo>
                    <a:pt x="78400" y="225468"/>
                  </a:lnTo>
                  <a:lnTo>
                    <a:pt x="37596" y="200310"/>
                  </a:lnTo>
                  <a:lnTo>
                    <a:pt x="10087" y="163008"/>
                  </a:lnTo>
                  <a:lnTo>
                    <a:pt x="0" y="11734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240550" y="4015994"/>
            <a:ext cx="269875" cy="247650"/>
            <a:chOff x="240550" y="4015994"/>
            <a:chExt cx="269875" cy="247650"/>
          </a:xfrm>
        </p:grpSpPr>
        <p:sp>
          <p:nvSpPr>
            <p:cNvPr id="22" name="object 22"/>
            <p:cNvSpPr/>
            <p:nvPr/>
          </p:nvSpPr>
          <p:spPr>
            <a:xfrm>
              <a:off x="246900" y="4022344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128384" y="0"/>
                  </a:moveTo>
                  <a:lnTo>
                    <a:pt x="78411" y="9209"/>
                  </a:lnTo>
                  <a:lnTo>
                    <a:pt x="37603" y="34337"/>
                  </a:lnTo>
                  <a:lnTo>
                    <a:pt x="10089" y="71633"/>
                  </a:lnTo>
                  <a:lnTo>
                    <a:pt x="0" y="117347"/>
                  </a:lnTo>
                  <a:lnTo>
                    <a:pt x="10089" y="163008"/>
                  </a:lnTo>
                  <a:lnTo>
                    <a:pt x="37603" y="200310"/>
                  </a:lnTo>
                  <a:lnTo>
                    <a:pt x="78411" y="225468"/>
                  </a:lnTo>
                  <a:lnTo>
                    <a:pt x="128384" y="234695"/>
                  </a:lnTo>
                  <a:lnTo>
                    <a:pt x="178355" y="225468"/>
                  </a:lnTo>
                  <a:lnTo>
                    <a:pt x="219159" y="200310"/>
                  </a:lnTo>
                  <a:lnTo>
                    <a:pt x="246668" y="163008"/>
                  </a:lnTo>
                  <a:lnTo>
                    <a:pt x="256755" y="117347"/>
                  </a:lnTo>
                  <a:lnTo>
                    <a:pt x="246668" y="71633"/>
                  </a:lnTo>
                  <a:lnTo>
                    <a:pt x="219159" y="34337"/>
                  </a:lnTo>
                  <a:lnTo>
                    <a:pt x="178355" y="9209"/>
                  </a:lnTo>
                  <a:lnTo>
                    <a:pt x="1283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46900" y="4022344"/>
              <a:ext cx="257175" cy="234950"/>
            </a:xfrm>
            <a:custGeom>
              <a:avLst/>
              <a:gdLst/>
              <a:ahLst/>
              <a:cxnLst/>
              <a:rect l="l" t="t" r="r" b="b"/>
              <a:pathLst>
                <a:path w="257175" h="234950">
                  <a:moveTo>
                    <a:pt x="0" y="117347"/>
                  </a:moveTo>
                  <a:lnTo>
                    <a:pt x="10089" y="71633"/>
                  </a:lnTo>
                  <a:lnTo>
                    <a:pt x="37603" y="34337"/>
                  </a:lnTo>
                  <a:lnTo>
                    <a:pt x="78411" y="9209"/>
                  </a:lnTo>
                  <a:lnTo>
                    <a:pt x="128384" y="0"/>
                  </a:lnTo>
                  <a:lnTo>
                    <a:pt x="178355" y="9209"/>
                  </a:lnTo>
                  <a:lnTo>
                    <a:pt x="219159" y="34337"/>
                  </a:lnTo>
                  <a:lnTo>
                    <a:pt x="246668" y="71633"/>
                  </a:lnTo>
                  <a:lnTo>
                    <a:pt x="256755" y="117347"/>
                  </a:lnTo>
                  <a:lnTo>
                    <a:pt x="246668" y="163008"/>
                  </a:lnTo>
                  <a:lnTo>
                    <a:pt x="219159" y="200310"/>
                  </a:lnTo>
                  <a:lnTo>
                    <a:pt x="178355" y="225468"/>
                  </a:lnTo>
                  <a:lnTo>
                    <a:pt x="128384" y="234695"/>
                  </a:lnTo>
                  <a:lnTo>
                    <a:pt x="78411" y="225468"/>
                  </a:lnTo>
                  <a:lnTo>
                    <a:pt x="37603" y="200310"/>
                  </a:lnTo>
                  <a:lnTo>
                    <a:pt x="10089" y="163008"/>
                  </a:lnTo>
                  <a:lnTo>
                    <a:pt x="0" y="11734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70991" y="2013331"/>
            <a:ext cx="2954020" cy="2343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05"/>
              </a:spcBef>
            </a:pPr>
            <a:r>
              <a:rPr dirty="0" sz="2000" spc="50">
                <a:latin typeface="Cambria"/>
                <a:cs typeface="Cambria"/>
              </a:rPr>
              <a:t>Upload</a:t>
            </a:r>
            <a:r>
              <a:rPr dirty="0" sz="2000" spc="2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student</a:t>
            </a:r>
            <a:r>
              <a:rPr dirty="0" sz="2000" spc="12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dataset</a:t>
            </a:r>
            <a:endParaRPr sz="20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255"/>
              </a:spcBef>
            </a:pPr>
            <a:r>
              <a:rPr dirty="0" sz="2000">
                <a:latin typeface="Cambria"/>
                <a:cs typeface="Cambria"/>
              </a:rPr>
              <a:t>Train</a:t>
            </a:r>
            <a:r>
              <a:rPr dirty="0" sz="2000" spc="13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prediction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-20"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mbria"/>
                <a:cs typeface="Cambria"/>
              </a:rPr>
              <a:t>View</a:t>
            </a:r>
            <a:r>
              <a:rPr dirty="0" sz="2000" spc="45">
                <a:latin typeface="Cambria"/>
                <a:cs typeface="Cambria"/>
              </a:rPr>
              <a:t>  </a:t>
            </a:r>
            <a:r>
              <a:rPr dirty="0" sz="2000">
                <a:latin typeface="Cambria"/>
                <a:cs typeface="Cambria"/>
              </a:rPr>
              <a:t>classification</a:t>
            </a:r>
            <a:r>
              <a:rPr dirty="0" sz="2000" spc="39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results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mbria"/>
                <a:cs typeface="Cambria"/>
              </a:rPr>
              <a:t>Identify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at-</a:t>
            </a:r>
            <a:r>
              <a:rPr dirty="0" sz="2000">
                <a:latin typeface="Cambria"/>
                <a:cs typeface="Cambria"/>
              </a:rPr>
              <a:t>risk</a:t>
            </a:r>
            <a:r>
              <a:rPr dirty="0" sz="2000" spc="34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students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5754" y="284962"/>
            <a:ext cx="3310890" cy="876935"/>
            <a:chOff x="425754" y="284962"/>
            <a:chExt cx="3310890" cy="876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754" y="284962"/>
              <a:ext cx="3310636" cy="8767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290" y="407415"/>
              <a:ext cx="2910078" cy="47269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41628" y="1146428"/>
            <a:ext cx="7152640" cy="3775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Font typeface="Segoe UI Symbol"/>
              <a:buChar char="❑"/>
              <a:tabLst>
                <a:tab pos="301625" algn="l"/>
              </a:tabLst>
            </a:pPr>
            <a:r>
              <a:rPr dirty="0" sz="2400" spc="55">
                <a:latin typeface="Cambria"/>
                <a:cs typeface="Cambria"/>
              </a:rPr>
              <a:t>Deep</a:t>
            </a:r>
            <a:r>
              <a:rPr dirty="0" sz="2400" spc="415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Learning</a:t>
            </a:r>
            <a:r>
              <a:rPr dirty="0" sz="2400" spc="31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integration</a:t>
            </a:r>
            <a:r>
              <a:rPr dirty="0" sz="2400" spc="14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1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higher</a:t>
            </a:r>
            <a:r>
              <a:rPr dirty="0" sz="2400" spc="40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accuracy.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Font typeface="Segoe UI Symbol"/>
              <a:buChar char="❑"/>
            </a:pPr>
            <a:endParaRPr sz="2400">
              <a:latin typeface="Cambria"/>
              <a:cs typeface="Cambria"/>
            </a:endParaRPr>
          </a:p>
          <a:p>
            <a:pPr marL="301625" indent="-288925">
              <a:lnSpc>
                <a:spcPct val="100000"/>
              </a:lnSpc>
              <a:buFont typeface="Segoe UI Symbol"/>
              <a:buChar char="❑"/>
              <a:tabLst>
                <a:tab pos="301625" algn="l"/>
              </a:tabLst>
            </a:pPr>
            <a:r>
              <a:rPr dirty="0" sz="2400">
                <a:latin typeface="Cambria"/>
                <a:cs typeface="Cambria"/>
              </a:rPr>
              <a:t>Mobile</a:t>
            </a:r>
            <a:r>
              <a:rPr dirty="0" sz="2400" spc="40">
                <a:latin typeface="Cambria"/>
                <a:cs typeface="Cambria"/>
              </a:rPr>
              <a:t>  </a:t>
            </a:r>
            <a:r>
              <a:rPr dirty="0" sz="2400">
                <a:latin typeface="Cambria"/>
                <a:cs typeface="Cambria"/>
              </a:rPr>
              <a:t>application</a:t>
            </a:r>
            <a:r>
              <a:rPr dirty="0" sz="2400" spc="4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development.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Segoe UI Symbol"/>
              <a:buChar char="❑"/>
            </a:pPr>
            <a:endParaRPr sz="2400">
              <a:latin typeface="Cambria"/>
              <a:cs typeface="Cambria"/>
            </a:endParaRPr>
          </a:p>
          <a:p>
            <a:pPr marL="301625" indent="-288925">
              <a:lnSpc>
                <a:spcPct val="100000"/>
              </a:lnSpc>
              <a:buFont typeface="Segoe UI Symbol"/>
              <a:buChar char="❑"/>
              <a:tabLst>
                <a:tab pos="301625" algn="l"/>
              </a:tabLst>
            </a:pPr>
            <a:r>
              <a:rPr dirty="0" sz="2400">
                <a:latin typeface="Cambria"/>
                <a:cs typeface="Cambria"/>
              </a:rPr>
              <a:t>Real-time</a:t>
            </a:r>
            <a:r>
              <a:rPr dirty="0" sz="2400" spc="2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student</a:t>
            </a:r>
            <a:r>
              <a:rPr dirty="0" sz="2400" spc="2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monitoring</a:t>
            </a:r>
            <a:r>
              <a:rPr dirty="0" sz="2400" spc="29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system.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Font typeface="Segoe UI Symbol"/>
              <a:buChar char="❑"/>
            </a:pPr>
            <a:endParaRPr sz="2400">
              <a:latin typeface="Cambria"/>
              <a:cs typeface="Cambria"/>
            </a:endParaRPr>
          </a:p>
          <a:p>
            <a:pPr marL="301625" indent="-288925">
              <a:lnSpc>
                <a:spcPct val="100000"/>
              </a:lnSpc>
              <a:buFont typeface="Segoe UI Symbol"/>
              <a:buChar char="❑"/>
              <a:tabLst>
                <a:tab pos="301625" algn="l"/>
              </a:tabLst>
            </a:pPr>
            <a:r>
              <a:rPr dirty="0" sz="2400" spc="-10">
                <a:latin typeface="Cambria"/>
                <a:cs typeface="Cambria"/>
              </a:rPr>
              <a:t>AI-</a:t>
            </a:r>
            <a:r>
              <a:rPr dirty="0" sz="2400" spc="60">
                <a:latin typeface="Cambria"/>
                <a:cs typeface="Cambria"/>
              </a:rPr>
              <a:t>based</a:t>
            </a:r>
            <a:r>
              <a:rPr dirty="0" sz="2400" spc="5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personalized</a:t>
            </a:r>
            <a:r>
              <a:rPr dirty="0" sz="2400" spc="525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learning</a:t>
            </a:r>
            <a:r>
              <a:rPr dirty="0" sz="2400" spc="44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recommendations.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Segoe UI Symbol"/>
              <a:buChar char="❑"/>
            </a:pPr>
            <a:endParaRPr sz="2400">
              <a:latin typeface="Cambria"/>
              <a:cs typeface="Cambria"/>
            </a:endParaRPr>
          </a:p>
          <a:p>
            <a:pPr marL="301625" indent="-288925">
              <a:lnSpc>
                <a:spcPct val="100000"/>
              </a:lnSpc>
              <a:buFont typeface="Segoe UI Symbol"/>
              <a:buChar char="❑"/>
              <a:tabLst>
                <a:tab pos="301625" algn="l"/>
              </a:tabLst>
            </a:pPr>
            <a:r>
              <a:rPr dirty="0" sz="2400" spc="65">
                <a:latin typeface="Cambria"/>
                <a:cs typeface="Cambria"/>
              </a:rPr>
              <a:t>Cloud</a:t>
            </a:r>
            <a:r>
              <a:rPr dirty="0" sz="2400" spc="32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deployment.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62704" y="94894"/>
            <a:ext cx="3158490" cy="929640"/>
            <a:chOff x="3862704" y="94894"/>
            <a:chExt cx="3158490" cy="929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2704" y="94894"/>
              <a:ext cx="3158362" cy="9294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2465" y="219075"/>
              <a:ext cx="2758693" cy="52133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5303" y="1050163"/>
            <a:ext cx="10424160" cy="76962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95580" marR="5080" indent="-182880">
              <a:lnSpc>
                <a:spcPct val="103299"/>
              </a:lnSpc>
              <a:spcBef>
                <a:spcPts val="5"/>
              </a:spcBef>
              <a:buClr>
                <a:srgbClr val="9E3611"/>
              </a:buClr>
              <a:buSzPct val="85416"/>
              <a:buFont typeface="Wingdings"/>
              <a:buChar char=""/>
              <a:tabLst>
                <a:tab pos="195580" algn="l"/>
              </a:tabLst>
            </a:pPr>
            <a:r>
              <a:rPr dirty="0" sz="2400">
                <a:latin typeface="Cambria"/>
                <a:cs typeface="Cambria"/>
              </a:rPr>
              <a:t>The</a:t>
            </a:r>
            <a:r>
              <a:rPr dirty="0" sz="2400" spc="32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Student</a:t>
            </a:r>
            <a:r>
              <a:rPr dirty="0" sz="2400" spc="21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performance</a:t>
            </a:r>
            <a:r>
              <a:rPr dirty="0" sz="2400" spc="4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Classification</a:t>
            </a:r>
            <a:r>
              <a:rPr dirty="0" sz="2400" spc="40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30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Prediction</a:t>
            </a:r>
            <a:r>
              <a:rPr dirty="0" sz="2400" spc="1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system</a:t>
            </a:r>
            <a:r>
              <a:rPr dirty="0" sz="2400" spc="3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provides</a:t>
            </a:r>
            <a:r>
              <a:rPr dirty="0" sz="2400" spc="320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an </a:t>
            </a:r>
            <a:r>
              <a:rPr dirty="0" baseline="1157" sz="3600">
                <a:latin typeface="Cambria"/>
                <a:cs typeface="Cambria"/>
              </a:rPr>
              <a:t>intelligent</a:t>
            </a:r>
            <a:r>
              <a:rPr dirty="0" baseline="1157" sz="3600" spc="502">
                <a:latin typeface="Cambria"/>
                <a:cs typeface="Cambria"/>
              </a:rPr>
              <a:t> </a:t>
            </a:r>
            <a:r>
              <a:rPr dirty="0" baseline="1157" sz="3600">
                <a:latin typeface="Cambria"/>
                <a:cs typeface="Cambria"/>
              </a:rPr>
              <a:t>approach</a:t>
            </a:r>
            <a:r>
              <a:rPr dirty="0" baseline="1157" sz="3600" spc="569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19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analyzing</a:t>
            </a:r>
            <a:r>
              <a:rPr dirty="0" sz="2400" spc="335">
                <a:latin typeface="Cambria"/>
                <a:cs typeface="Cambria"/>
              </a:rPr>
              <a:t> </a:t>
            </a:r>
            <a:r>
              <a:rPr dirty="0" sz="2400" spc="45">
                <a:latin typeface="Cambria"/>
                <a:cs typeface="Cambria"/>
              </a:rPr>
              <a:t>academic</a:t>
            </a:r>
            <a:r>
              <a:rPr dirty="0" sz="2400" spc="4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performance.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99415" y="2156841"/>
            <a:ext cx="31807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mbria"/>
                <a:cs typeface="Cambria"/>
              </a:rPr>
              <a:t>It</a:t>
            </a:r>
            <a:r>
              <a:rPr dirty="0" sz="2800" spc="-20">
                <a:latin typeface="Cambria"/>
                <a:cs typeface="Cambria"/>
              </a:rPr>
              <a:t> </a:t>
            </a:r>
            <a:r>
              <a:rPr dirty="0" sz="2800" spc="50">
                <a:latin typeface="Cambria"/>
                <a:cs typeface="Cambria"/>
              </a:rPr>
              <a:t>helps</a:t>
            </a:r>
            <a:r>
              <a:rPr dirty="0" sz="2800" spc="220">
                <a:latin typeface="Cambria"/>
                <a:cs typeface="Cambria"/>
              </a:rPr>
              <a:t> </a:t>
            </a:r>
            <a:r>
              <a:rPr dirty="0" sz="2800" spc="-10">
                <a:latin typeface="Cambria"/>
                <a:cs typeface="Cambria"/>
              </a:rPr>
              <a:t>educators: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90"/>
              </a:spcBef>
              <a:buClr>
                <a:srgbClr val="9E3611"/>
              </a:buClr>
              <a:buSzPct val="85416"/>
              <a:buFont typeface="Wingdings"/>
              <a:buChar char=""/>
              <a:tabLst>
                <a:tab pos="194945" algn="l"/>
              </a:tabLst>
            </a:pPr>
            <a:r>
              <a:rPr dirty="0"/>
              <a:t>Detect</a:t>
            </a:r>
            <a:r>
              <a:rPr dirty="0" spc="260"/>
              <a:t> </a:t>
            </a:r>
            <a:r>
              <a:rPr dirty="0"/>
              <a:t>weak</a:t>
            </a:r>
            <a:r>
              <a:rPr dirty="0" spc="245"/>
              <a:t> </a:t>
            </a:r>
            <a:r>
              <a:rPr dirty="0"/>
              <a:t>students</a:t>
            </a:r>
            <a:r>
              <a:rPr dirty="0" spc="215"/>
              <a:t> </a:t>
            </a:r>
            <a:r>
              <a:rPr dirty="0" spc="-10"/>
              <a:t>early</a:t>
            </a:r>
          </a:p>
          <a:p>
            <a:pPr marL="194945" indent="-182245">
              <a:lnSpc>
                <a:spcPct val="100000"/>
              </a:lnSpc>
              <a:spcBef>
                <a:spcPts val="994"/>
              </a:spcBef>
              <a:buClr>
                <a:srgbClr val="9E3611"/>
              </a:buClr>
              <a:buSzPct val="85416"/>
              <a:buFont typeface="Wingdings"/>
              <a:buChar char=""/>
              <a:tabLst>
                <a:tab pos="194945" algn="l"/>
              </a:tabLst>
            </a:pPr>
            <a:r>
              <a:rPr dirty="0"/>
              <a:t>Improve</a:t>
            </a:r>
            <a:r>
              <a:rPr dirty="0" spc="110"/>
              <a:t> </a:t>
            </a:r>
            <a:r>
              <a:rPr dirty="0" spc="50"/>
              <a:t>learning</a:t>
            </a:r>
            <a:r>
              <a:rPr dirty="0" spc="200"/>
              <a:t> </a:t>
            </a:r>
            <a:r>
              <a:rPr dirty="0" spc="-10"/>
              <a:t>outcomes</a:t>
            </a:r>
          </a:p>
          <a:p>
            <a:pPr marL="194945" indent="-182245">
              <a:lnSpc>
                <a:spcPct val="100000"/>
              </a:lnSpc>
              <a:spcBef>
                <a:spcPts val="1000"/>
              </a:spcBef>
              <a:buClr>
                <a:srgbClr val="9E3611"/>
              </a:buClr>
              <a:buSzPct val="85416"/>
              <a:buFont typeface="Wingdings"/>
              <a:buChar char=""/>
              <a:tabLst>
                <a:tab pos="194945" algn="l"/>
              </a:tabLst>
            </a:pPr>
            <a:r>
              <a:rPr dirty="0"/>
              <a:t>Make</a:t>
            </a:r>
            <a:r>
              <a:rPr dirty="0" spc="409"/>
              <a:t> </a:t>
            </a:r>
            <a:r>
              <a:rPr dirty="0" spc="-20"/>
              <a:t>data-</a:t>
            </a:r>
            <a:r>
              <a:rPr dirty="0"/>
              <a:t>driven</a:t>
            </a:r>
            <a:r>
              <a:rPr dirty="0" spc="280"/>
              <a:t> </a:t>
            </a:r>
            <a:r>
              <a:rPr dirty="0" spc="45"/>
              <a:t>academic</a:t>
            </a:r>
            <a:r>
              <a:rPr dirty="0" spc="434"/>
              <a:t> </a:t>
            </a:r>
            <a:r>
              <a:rPr dirty="0" spc="-10"/>
              <a:t>decisions</a:t>
            </a:r>
          </a:p>
          <a:p>
            <a:pPr marL="194945" indent="-182245">
              <a:lnSpc>
                <a:spcPct val="100000"/>
              </a:lnSpc>
              <a:spcBef>
                <a:spcPts val="1010"/>
              </a:spcBef>
              <a:buClr>
                <a:srgbClr val="9E3611"/>
              </a:buClr>
              <a:buSzPct val="85416"/>
              <a:buFont typeface="Wingdings"/>
              <a:buChar char=""/>
              <a:tabLst>
                <a:tab pos="194945" algn="l"/>
              </a:tabLst>
            </a:pPr>
            <a:r>
              <a:rPr dirty="0"/>
              <a:t>The</a:t>
            </a:r>
            <a:r>
              <a:rPr dirty="0" spc="245"/>
              <a:t> </a:t>
            </a:r>
            <a:r>
              <a:rPr dirty="0"/>
              <a:t>system</a:t>
            </a:r>
            <a:r>
              <a:rPr dirty="0" spc="280"/>
              <a:t> </a:t>
            </a:r>
            <a:r>
              <a:rPr dirty="0" spc="50"/>
              <a:t>enhances</a:t>
            </a:r>
            <a:r>
              <a:rPr dirty="0" spc="305"/>
              <a:t> </a:t>
            </a:r>
            <a:r>
              <a:rPr dirty="0"/>
              <a:t>educational</a:t>
            </a:r>
            <a:r>
              <a:rPr dirty="0" spc="270"/>
              <a:t> </a:t>
            </a:r>
            <a:r>
              <a:rPr dirty="0" spc="45"/>
              <a:t>efficiency</a:t>
            </a:r>
            <a:r>
              <a:rPr dirty="0" spc="340"/>
              <a:t> </a:t>
            </a:r>
            <a:r>
              <a:rPr dirty="0"/>
              <a:t>using</a:t>
            </a:r>
            <a:r>
              <a:rPr dirty="0" spc="265"/>
              <a:t> </a:t>
            </a:r>
            <a:r>
              <a:rPr dirty="0"/>
              <a:t>machine</a:t>
            </a:r>
            <a:r>
              <a:rPr dirty="0" spc="335"/>
              <a:t> </a:t>
            </a:r>
            <a:r>
              <a:rPr dirty="0" spc="55"/>
              <a:t>learning</a:t>
            </a:r>
            <a:r>
              <a:rPr dirty="0" spc="305"/>
              <a:t> </a:t>
            </a:r>
            <a:r>
              <a:rPr dirty="0" spc="-10"/>
              <a:t>techniques.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0834" y="2951607"/>
            <a:ext cx="4528058" cy="926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haider ali</dc:creator>
  <dcterms:created xsi:type="dcterms:W3CDTF">2026-07-15T04:59:37Z</dcterms:created>
  <dcterms:modified xsi:type="dcterms:W3CDTF">2026-07-15T04:59:37Z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2026-07-15T00:00:00Z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2026-07-15T00:00:00Z</vt:filetime>
  </property>
  <property fmtid="{D5CDD505-2E9C-101B-9397-08002B2CF9AE}" pid="6" name="Producer">
    <vt:lpwstr>3-Heights(TM) PDF Security Shell 4.8.25.2 (http://www.pdf-tools.com)</vt:lpwstr>
  </property>
</Properties>
</file>